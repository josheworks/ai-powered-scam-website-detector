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200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5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8340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5.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892040"/>
            <a:ext cx="12188952" cy="1965960"/>
          </a:xfrm>
          <a:prstGeom prst="rect">
            <a:avLst/>
          </a:prstGeom>
          <a:solidFill>
            <a:srgbClr val="F4EFFB"/>
          </a:solidFill>
          <a:ln/>
        </p:spPr>
      </p:sp>
      <p:sp>
        <p:nvSpPr>
          <p:cNvPr id="3" name="Shape 1"/>
          <p:cNvSpPr/>
          <p:nvPr/>
        </p:nvSpPr>
        <p:spPr>
          <a:xfrm>
            <a:off x="0" y="0"/>
            <a:ext cx="12188952" cy="109728"/>
          </a:xfrm>
          <a:prstGeom prst="rect">
            <a:avLst/>
          </a:prstGeom>
          <a:solidFill>
            <a:srgbClr val="4B2E83"/>
          </a:solidFill>
          <a:ln/>
        </p:spPr>
      </p:sp>
      <p:sp>
        <p:nvSpPr>
          <p:cNvPr id="5" name="Text 3"/>
          <p:cNvSpPr/>
          <p:nvPr/>
        </p:nvSpPr>
        <p:spPr>
          <a:xfrm>
            <a:off x="5591556" y="320040"/>
            <a:ext cx="1005840" cy="1005840"/>
          </a:xfrm>
          <a:prstGeom prst="rect">
            <a:avLst/>
          </a:prstGeom>
          <a:noFill/>
          <a:ln/>
        </p:spPr>
        <p:txBody>
          <a:bodyPr wrap="square" rtlCol="0" anchor="ctr"/>
          <a:lstStyle/>
          <a:p>
            <a:pPr marL="0" indent="0" algn="ctr">
              <a:buNone/>
            </a:pPr>
            <a:endParaRPr lang="en-US" sz="900" dirty="0"/>
          </a:p>
        </p:txBody>
      </p:sp>
      <p:sp>
        <p:nvSpPr>
          <p:cNvPr id="6" name="Text 4"/>
          <p:cNvSpPr/>
          <p:nvPr/>
        </p:nvSpPr>
        <p:spPr>
          <a:xfrm>
            <a:off x="561340" y="2116328"/>
            <a:ext cx="11091672" cy="365760"/>
          </a:xfrm>
          <a:prstGeom prst="rect">
            <a:avLst/>
          </a:prstGeom>
          <a:noFill/>
          <a:ln/>
        </p:spPr>
        <p:txBody>
          <a:bodyPr wrap="square" rtlCol="0" anchor="ctr"/>
          <a:lstStyle/>
          <a:p>
            <a:pPr marL="0" indent="0" algn="ctr">
              <a:buNone/>
            </a:pPr>
            <a:r>
              <a:rPr lang="en-US" sz="1800" b="1" dirty="0">
                <a:solidFill>
                  <a:srgbClr val="3A2C55"/>
                </a:solidFill>
                <a:latin typeface="Cambria" pitchFamily="34" charset="0"/>
                <a:ea typeface="Cambria" pitchFamily="34" charset="-122"/>
                <a:cs typeface="Cambria" pitchFamily="34" charset="-120"/>
              </a:rPr>
              <a:t>EXCEL COLLEGE FOR COMMERCE AND SCIENCE</a:t>
            </a:r>
            <a:endParaRPr lang="en-US" sz="1800" dirty="0"/>
          </a:p>
        </p:txBody>
      </p:sp>
      <p:sp>
        <p:nvSpPr>
          <p:cNvPr id="7" name="Text 5"/>
          <p:cNvSpPr/>
          <p:nvPr/>
        </p:nvSpPr>
        <p:spPr>
          <a:xfrm>
            <a:off x="548640" y="2534920"/>
            <a:ext cx="11091672" cy="320040"/>
          </a:xfrm>
          <a:prstGeom prst="rect">
            <a:avLst/>
          </a:prstGeom>
          <a:noFill/>
          <a:ln/>
        </p:spPr>
        <p:txBody>
          <a:bodyPr wrap="square" rtlCol="0" anchor="ctr"/>
          <a:lstStyle/>
          <a:p>
            <a:pPr marL="0" indent="0" algn="ctr">
              <a:buNone/>
            </a:pPr>
            <a:r>
              <a:rPr lang="en-US" sz="1200" dirty="0">
                <a:solidFill>
                  <a:srgbClr val="6B5B95"/>
                </a:solidFill>
                <a:latin typeface="Calibri" pitchFamily="34" charset="0"/>
                <a:ea typeface="Calibri" pitchFamily="34" charset="-122"/>
                <a:cs typeface="Calibri" pitchFamily="34" charset="-120"/>
              </a:rPr>
              <a:t>Department of Computer Applications  |  School of Computer Science </a:t>
            </a:r>
            <a:endParaRPr lang="en-US" sz="1200" dirty="0"/>
          </a:p>
        </p:txBody>
      </p:sp>
      <p:sp>
        <p:nvSpPr>
          <p:cNvPr id="8" name="Text 6"/>
          <p:cNvSpPr/>
          <p:nvPr/>
        </p:nvSpPr>
        <p:spPr>
          <a:xfrm>
            <a:off x="548640" y="2514600"/>
            <a:ext cx="11091672" cy="365760"/>
          </a:xfrm>
          <a:prstGeom prst="rect">
            <a:avLst/>
          </a:prstGeom>
          <a:noFill/>
          <a:ln/>
        </p:spPr>
        <p:txBody>
          <a:bodyPr wrap="square" rtlCol="0" anchor="ctr"/>
          <a:lstStyle/>
          <a:p>
            <a:pPr marL="0" indent="0" algn="ctr">
              <a:buNone/>
            </a:pPr>
            <a:endParaRPr lang="en-US" sz="1400" dirty="0"/>
          </a:p>
        </p:txBody>
      </p:sp>
      <p:sp>
        <p:nvSpPr>
          <p:cNvPr id="9" name="Text 7"/>
          <p:cNvSpPr/>
          <p:nvPr/>
        </p:nvSpPr>
        <p:spPr>
          <a:xfrm>
            <a:off x="822960" y="2880360"/>
            <a:ext cx="10543032" cy="1371600"/>
          </a:xfrm>
          <a:prstGeom prst="rect">
            <a:avLst/>
          </a:prstGeom>
          <a:noFill/>
          <a:ln/>
        </p:spPr>
        <p:txBody>
          <a:bodyPr wrap="square" rtlCol="0" anchor="ctr"/>
          <a:lstStyle/>
          <a:p>
            <a:pPr marL="0" indent="0" algn="ctr">
              <a:lnSpc>
                <a:spcPct val="105000"/>
              </a:lnSpc>
              <a:buNone/>
            </a:pPr>
            <a:r>
              <a:rPr lang="en-US" sz="4000" b="1" dirty="0">
                <a:solidFill>
                  <a:srgbClr val="4B2E83"/>
                </a:solidFill>
                <a:latin typeface="Cambria" pitchFamily="34" charset="0"/>
                <a:ea typeface="Cambria" pitchFamily="34" charset="-122"/>
                <a:cs typeface="Cambria" pitchFamily="34" charset="-120"/>
              </a:rPr>
              <a:t>AI-Powered Scam Website</a:t>
            </a:r>
            <a:endParaRPr lang="en-US" sz="4000" dirty="0"/>
          </a:p>
          <a:p>
            <a:pPr marL="0" indent="0" algn="ctr">
              <a:lnSpc>
                <a:spcPct val="105000"/>
              </a:lnSpc>
              <a:buNone/>
            </a:pPr>
            <a:r>
              <a:rPr lang="en-US" sz="4000" b="1" dirty="0">
                <a:solidFill>
                  <a:srgbClr val="4B2E83"/>
                </a:solidFill>
                <a:latin typeface="Cambria" pitchFamily="34" charset="0"/>
                <a:ea typeface="Cambria" pitchFamily="34" charset="-122"/>
                <a:cs typeface="Cambria" pitchFamily="34" charset="-120"/>
              </a:rPr>
              <a:t>Detection System</a:t>
            </a:r>
            <a:endParaRPr lang="en-US" sz="4000" dirty="0"/>
          </a:p>
        </p:txBody>
      </p:sp>
      <p:sp>
        <p:nvSpPr>
          <p:cNvPr id="10" name="Text 8"/>
          <p:cNvSpPr/>
          <p:nvPr/>
        </p:nvSpPr>
        <p:spPr>
          <a:xfrm>
            <a:off x="1280160" y="4224528"/>
            <a:ext cx="9628632" cy="502920"/>
          </a:xfrm>
          <a:prstGeom prst="rect">
            <a:avLst/>
          </a:prstGeom>
          <a:noFill/>
          <a:ln/>
        </p:spPr>
        <p:txBody>
          <a:bodyPr wrap="square" rtlCol="0" anchor="ctr"/>
          <a:lstStyle/>
          <a:p>
            <a:pPr marL="0" indent="0" algn="ctr">
              <a:buNone/>
            </a:pPr>
            <a:r>
              <a:rPr lang="en-US" sz="1300" i="1" dirty="0">
                <a:solidFill>
                  <a:srgbClr val="4A4160"/>
                </a:solidFill>
                <a:latin typeface="Calibri" pitchFamily="34" charset="0"/>
                <a:ea typeface="Calibri" pitchFamily="34" charset="-122"/>
                <a:cs typeface="Calibri" pitchFamily="34" charset="-120"/>
              </a:rPr>
              <a:t>A web-based trust-scoring system that helps everyday users spot phishing and scam websites before it is too late.</a:t>
            </a:r>
            <a:endParaRPr lang="en-US" sz="1300" dirty="0"/>
          </a:p>
        </p:txBody>
      </p:sp>
      <p:sp>
        <p:nvSpPr>
          <p:cNvPr id="11" name="Text 9"/>
          <p:cNvSpPr/>
          <p:nvPr/>
        </p:nvSpPr>
        <p:spPr>
          <a:xfrm>
            <a:off x="822960" y="5257800"/>
            <a:ext cx="3474720" cy="274320"/>
          </a:xfrm>
          <a:prstGeom prst="rect">
            <a:avLst/>
          </a:prstGeom>
          <a:noFill/>
          <a:ln/>
        </p:spPr>
        <p:txBody>
          <a:bodyPr wrap="square" rtlCol="0" anchor="ctr"/>
          <a:lstStyle/>
          <a:p>
            <a:pPr marL="0" indent="0">
              <a:buNone/>
            </a:pPr>
            <a:r>
              <a:rPr lang="en-US" sz="1000" b="1" kern="0" spc="100" dirty="0">
                <a:solidFill>
                  <a:srgbClr val="9B7FC7"/>
                </a:solidFill>
                <a:latin typeface="Calibri" pitchFamily="34" charset="0"/>
                <a:ea typeface="Calibri" pitchFamily="34" charset="-122"/>
                <a:cs typeface="Calibri" pitchFamily="34" charset="-120"/>
              </a:rPr>
              <a:t>SUBMITTED BY</a:t>
            </a:r>
            <a:endParaRPr lang="en-US" sz="1000" dirty="0"/>
          </a:p>
        </p:txBody>
      </p:sp>
      <p:sp>
        <p:nvSpPr>
          <p:cNvPr id="12" name="Text 10"/>
          <p:cNvSpPr/>
          <p:nvPr/>
        </p:nvSpPr>
        <p:spPr>
          <a:xfrm>
            <a:off x="822960" y="5550408"/>
            <a:ext cx="3474720" cy="640080"/>
          </a:xfrm>
          <a:prstGeom prst="rect">
            <a:avLst/>
          </a:prstGeom>
          <a:noFill/>
          <a:ln/>
        </p:spPr>
        <p:txBody>
          <a:bodyPr wrap="square" rtlCol="0" anchor="t"/>
          <a:lstStyle/>
          <a:p>
            <a:pPr marL="0" indent="0">
              <a:buNone/>
            </a:pPr>
            <a:r>
              <a:rPr lang="en-US" sz="1300" dirty="0">
                <a:solidFill>
                  <a:srgbClr val="3A2C55"/>
                </a:solidFill>
                <a:latin typeface="Calibri" pitchFamily="34" charset="0"/>
                <a:ea typeface="Calibri" pitchFamily="34" charset="-122"/>
                <a:cs typeface="Calibri" pitchFamily="34" charset="-120"/>
              </a:rPr>
              <a:t>Praveen .T </a:t>
            </a:r>
          </a:p>
          <a:p>
            <a:pPr marL="0" indent="0">
              <a:buNone/>
            </a:pPr>
            <a:r>
              <a:rPr lang="en-US" sz="1300" dirty="0">
                <a:solidFill>
                  <a:srgbClr val="3A2C55"/>
                </a:solidFill>
                <a:latin typeface="Calibri" pitchFamily="34" charset="0"/>
                <a:ea typeface="Calibri" pitchFamily="34" charset="-122"/>
                <a:cs typeface="Calibri" pitchFamily="34" charset="-120"/>
              </a:rPr>
              <a:t>Rithic Joseph A</a:t>
            </a:r>
            <a:endParaRPr lang="en-US" sz="1300" dirty="0"/>
          </a:p>
        </p:txBody>
      </p:sp>
      <p:sp>
        <p:nvSpPr>
          <p:cNvPr id="13" name="Text 11"/>
          <p:cNvSpPr/>
          <p:nvPr/>
        </p:nvSpPr>
        <p:spPr>
          <a:xfrm>
            <a:off x="4526280" y="5257800"/>
            <a:ext cx="3474720" cy="274320"/>
          </a:xfrm>
          <a:prstGeom prst="rect">
            <a:avLst/>
          </a:prstGeom>
          <a:noFill/>
          <a:ln/>
        </p:spPr>
        <p:txBody>
          <a:bodyPr wrap="square" rtlCol="0" anchor="ctr"/>
          <a:lstStyle/>
          <a:p>
            <a:pPr marL="0" indent="0">
              <a:buNone/>
            </a:pPr>
            <a:r>
              <a:rPr lang="en-US" sz="1000" b="1" kern="0" spc="100" dirty="0">
                <a:solidFill>
                  <a:srgbClr val="9B7FC7"/>
                </a:solidFill>
                <a:latin typeface="Calibri" pitchFamily="34" charset="0"/>
                <a:ea typeface="Calibri" pitchFamily="34" charset="-122"/>
                <a:cs typeface="Calibri" pitchFamily="34" charset="-120"/>
              </a:rPr>
              <a:t>GUIDE / MENTOR</a:t>
            </a:r>
            <a:endParaRPr lang="en-US" sz="1000" dirty="0"/>
          </a:p>
        </p:txBody>
      </p:sp>
      <p:sp>
        <p:nvSpPr>
          <p:cNvPr id="14" name="Text 12"/>
          <p:cNvSpPr/>
          <p:nvPr/>
        </p:nvSpPr>
        <p:spPr>
          <a:xfrm>
            <a:off x="4526280" y="5550408"/>
            <a:ext cx="3474720" cy="640080"/>
          </a:xfrm>
          <a:prstGeom prst="rect">
            <a:avLst/>
          </a:prstGeom>
          <a:noFill/>
          <a:ln/>
        </p:spPr>
        <p:txBody>
          <a:bodyPr wrap="square" rtlCol="0" anchor="t"/>
          <a:lstStyle/>
          <a:p>
            <a:pPr marL="0" indent="0">
              <a:buNone/>
            </a:pPr>
            <a:r>
              <a:rPr lang="en-US" sz="1300" dirty="0">
                <a:solidFill>
                  <a:srgbClr val="3A2C55"/>
                </a:solidFill>
                <a:latin typeface="Calibri" pitchFamily="34" charset="0"/>
                <a:ea typeface="Calibri" pitchFamily="34" charset="-122"/>
                <a:cs typeface="Calibri" pitchFamily="34" charset="-120"/>
              </a:rPr>
              <a:t>Mrs. S. Rubarani</a:t>
            </a:r>
            <a:endParaRPr lang="en-US" sz="1300" dirty="0"/>
          </a:p>
          <a:p>
            <a:pPr marL="0" indent="0">
              <a:buNone/>
            </a:pPr>
            <a:r>
              <a:rPr lang="en-US" sz="1300" dirty="0">
                <a:solidFill>
                  <a:srgbClr val="3A2C55"/>
                </a:solidFill>
                <a:latin typeface="Calibri" pitchFamily="34" charset="0"/>
                <a:ea typeface="Calibri" pitchFamily="34" charset="-122"/>
                <a:cs typeface="Calibri" pitchFamily="34" charset="-120"/>
              </a:rPr>
              <a:t>M.C.A., M.Phil., B.Ed.</a:t>
            </a:r>
            <a:endParaRPr lang="en-US" sz="1300" dirty="0"/>
          </a:p>
        </p:txBody>
      </p:sp>
      <p:sp>
        <p:nvSpPr>
          <p:cNvPr id="15" name="Text 13"/>
          <p:cNvSpPr/>
          <p:nvPr/>
        </p:nvSpPr>
        <p:spPr>
          <a:xfrm>
            <a:off x="8229600" y="5257800"/>
            <a:ext cx="3474720" cy="274320"/>
          </a:xfrm>
          <a:prstGeom prst="rect">
            <a:avLst/>
          </a:prstGeom>
          <a:noFill/>
          <a:ln/>
        </p:spPr>
        <p:txBody>
          <a:bodyPr wrap="square" rtlCol="0" anchor="ctr"/>
          <a:lstStyle/>
          <a:p>
            <a:pPr marL="0" indent="0">
              <a:buNone/>
            </a:pPr>
            <a:r>
              <a:rPr lang="en-US" sz="1000" b="1" kern="0" spc="100" dirty="0">
                <a:solidFill>
                  <a:srgbClr val="9B7FC7"/>
                </a:solidFill>
                <a:latin typeface="Calibri" pitchFamily="34" charset="0"/>
                <a:ea typeface="Calibri" pitchFamily="34" charset="-122"/>
                <a:cs typeface="Calibri" pitchFamily="34" charset="-120"/>
              </a:rPr>
              <a:t>ACADEMIC YEAR</a:t>
            </a:r>
            <a:endParaRPr lang="en-US" sz="1000" dirty="0"/>
          </a:p>
        </p:txBody>
      </p:sp>
      <p:sp>
        <p:nvSpPr>
          <p:cNvPr id="16" name="Text 14"/>
          <p:cNvSpPr/>
          <p:nvPr/>
        </p:nvSpPr>
        <p:spPr>
          <a:xfrm>
            <a:off x="8229600" y="5550408"/>
            <a:ext cx="3474720" cy="640080"/>
          </a:xfrm>
          <a:prstGeom prst="rect">
            <a:avLst/>
          </a:prstGeom>
          <a:noFill/>
          <a:ln/>
        </p:spPr>
        <p:txBody>
          <a:bodyPr wrap="square" rtlCol="0" anchor="t"/>
          <a:lstStyle/>
          <a:p>
            <a:pPr marL="0" indent="0">
              <a:buNone/>
            </a:pPr>
            <a:r>
              <a:rPr lang="en-US" sz="1300" dirty="0">
                <a:solidFill>
                  <a:srgbClr val="3A2C55"/>
                </a:solidFill>
                <a:latin typeface="Calibri" pitchFamily="34" charset="0"/>
                <a:ea typeface="Calibri" pitchFamily="34" charset="-122"/>
                <a:cs typeface="Calibri" pitchFamily="34" charset="-120"/>
              </a:rPr>
              <a:t> 2026 - 2027</a:t>
            </a:r>
            <a:endParaRPr lang="en-US" sz="1300" dirty="0"/>
          </a:p>
        </p:txBody>
      </p:sp>
      <p:pic>
        <p:nvPicPr>
          <p:cNvPr id="18" name="Picture 17">
            <a:extLst>
              <a:ext uri="{FF2B5EF4-FFF2-40B4-BE49-F238E27FC236}">
                <a16:creationId xmlns:a16="http://schemas.microsoft.com/office/drawing/2014/main" id="{D0C93B0A-D59E-C2AB-65B1-4E5A9976EB00}"/>
              </a:ext>
            </a:extLst>
          </p:cNvPr>
          <p:cNvPicPr>
            <a:picLocks noChangeAspect="1"/>
          </p:cNvPicPr>
          <p:nvPr/>
        </p:nvPicPr>
        <p:blipFill>
          <a:blip r:embed="rId3"/>
          <a:stretch>
            <a:fillRect/>
          </a:stretch>
        </p:blipFill>
        <p:spPr>
          <a:xfrm>
            <a:off x="1784699" y="320040"/>
            <a:ext cx="8957882" cy="22828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B7FC7"/>
                </a:solidFill>
                <a:latin typeface="Calibri" pitchFamily="34" charset="0"/>
                <a:ea typeface="Calibri" pitchFamily="34" charset="-122"/>
                <a:cs typeface="Calibri" pitchFamily="34" charset="-120"/>
              </a:rPr>
              <a:t>TABLE OF CONTENTS</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200" b="1" dirty="0">
                <a:solidFill>
                  <a:srgbClr val="3A2C55"/>
                </a:solidFill>
                <a:latin typeface="Cambria" pitchFamily="34" charset="0"/>
                <a:ea typeface="Cambria" pitchFamily="34" charset="-122"/>
                <a:cs typeface="Cambria" pitchFamily="34" charset="-120"/>
              </a:rPr>
              <a:t>What We'll Cover</a:t>
            </a:r>
            <a:endParaRPr lang="en-US" sz="3200" dirty="0"/>
          </a:p>
        </p:txBody>
      </p:sp>
      <p:sp>
        <p:nvSpPr>
          <p:cNvPr id="4" name="Shape 2"/>
          <p:cNvSpPr/>
          <p:nvPr/>
        </p:nvSpPr>
        <p:spPr>
          <a:xfrm>
            <a:off x="548640" y="1993392"/>
            <a:ext cx="384048" cy="384048"/>
          </a:xfrm>
          <a:prstGeom prst="ellipse">
            <a:avLst/>
          </a:prstGeom>
          <a:solidFill>
            <a:srgbClr val="E7DFF6"/>
          </a:solidFill>
          <a:ln/>
        </p:spPr>
      </p:sp>
      <p:sp>
        <p:nvSpPr>
          <p:cNvPr id="5" name="Text 3"/>
          <p:cNvSpPr/>
          <p:nvPr/>
        </p:nvSpPr>
        <p:spPr>
          <a:xfrm>
            <a:off x="548640" y="1993392"/>
            <a:ext cx="384048" cy="384048"/>
          </a:xfrm>
          <a:prstGeom prst="rect">
            <a:avLst/>
          </a:prstGeom>
          <a:noFill/>
          <a:ln/>
        </p:spPr>
        <p:txBody>
          <a:bodyPr wrap="square" rtlCol="0" anchor="ctr"/>
          <a:lstStyle/>
          <a:p>
            <a:pPr marL="0" indent="0" algn="ctr">
              <a:buNone/>
            </a:pPr>
            <a:r>
              <a:rPr lang="en-US" sz="1300" b="1" dirty="0">
                <a:solidFill>
                  <a:srgbClr val="4B2E83"/>
                </a:solidFill>
                <a:latin typeface="Calibri" pitchFamily="34" charset="0"/>
                <a:ea typeface="Calibri" pitchFamily="34" charset="-122"/>
                <a:cs typeface="Calibri" pitchFamily="34" charset="-120"/>
              </a:rPr>
              <a:t>01</a:t>
            </a:r>
            <a:endParaRPr lang="en-US" sz="1300" dirty="0"/>
          </a:p>
        </p:txBody>
      </p:sp>
      <p:sp>
        <p:nvSpPr>
          <p:cNvPr id="6" name="Text 4"/>
          <p:cNvSpPr/>
          <p:nvPr/>
        </p:nvSpPr>
        <p:spPr>
          <a:xfrm>
            <a:off x="1078992" y="1965960"/>
            <a:ext cx="4617720" cy="438912"/>
          </a:xfrm>
          <a:prstGeom prst="rect">
            <a:avLst/>
          </a:prstGeom>
          <a:noFill/>
          <a:ln/>
        </p:spPr>
        <p:txBody>
          <a:bodyPr wrap="square" lIns="0" tIns="0" rIns="0" bIns="0" rtlCol="0" anchor="ctr"/>
          <a:lstStyle/>
          <a:p>
            <a:pPr marL="0" indent="0">
              <a:buNone/>
            </a:pPr>
            <a:r>
              <a:rPr lang="en-US" sz="1500" dirty="0">
                <a:solidFill>
                  <a:srgbClr val="3A2C55"/>
                </a:solidFill>
                <a:latin typeface="Calibri" pitchFamily="34" charset="0"/>
                <a:ea typeface="Calibri" pitchFamily="34" charset="-122"/>
                <a:cs typeface="Calibri" pitchFamily="34" charset="-120"/>
              </a:rPr>
              <a:t>Abstract</a:t>
            </a:r>
            <a:endParaRPr lang="en-US" sz="1500" dirty="0"/>
          </a:p>
        </p:txBody>
      </p:sp>
      <p:sp>
        <p:nvSpPr>
          <p:cNvPr id="7" name="Shape 5"/>
          <p:cNvSpPr/>
          <p:nvPr/>
        </p:nvSpPr>
        <p:spPr>
          <a:xfrm>
            <a:off x="548640" y="2651760"/>
            <a:ext cx="384048" cy="384048"/>
          </a:xfrm>
          <a:prstGeom prst="ellipse">
            <a:avLst/>
          </a:prstGeom>
          <a:solidFill>
            <a:srgbClr val="E7DFF6"/>
          </a:solidFill>
          <a:ln/>
        </p:spPr>
      </p:sp>
      <p:sp>
        <p:nvSpPr>
          <p:cNvPr id="8" name="Text 6"/>
          <p:cNvSpPr/>
          <p:nvPr/>
        </p:nvSpPr>
        <p:spPr>
          <a:xfrm>
            <a:off x="548640" y="2651760"/>
            <a:ext cx="384048" cy="384048"/>
          </a:xfrm>
          <a:prstGeom prst="rect">
            <a:avLst/>
          </a:prstGeom>
          <a:noFill/>
          <a:ln/>
        </p:spPr>
        <p:txBody>
          <a:bodyPr wrap="square" rtlCol="0" anchor="ctr"/>
          <a:lstStyle/>
          <a:p>
            <a:pPr marL="0" indent="0" algn="ctr">
              <a:buNone/>
            </a:pPr>
            <a:r>
              <a:rPr lang="en-US" sz="1300" b="1" dirty="0">
                <a:solidFill>
                  <a:srgbClr val="4B2E83"/>
                </a:solidFill>
                <a:latin typeface="Calibri" pitchFamily="34" charset="0"/>
                <a:ea typeface="Calibri" pitchFamily="34" charset="-122"/>
                <a:cs typeface="Calibri" pitchFamily="34" charset="-120"/>
              </a:rPr>
              <a:t>02</a:t>
            </a:r>
            <a:endParaRPr lang="en-US" sz="1300" dirty="0"/>
          </a:p>
        </p:txBody>
      </p:sp>
      <p:sp>
        <p:nvSpPr>
          <p:cNvPr id="9" name="Text 7"/>
          <p:cNvSpPr/>
          <p:nvPr/>
        </p:nvSpPr>
        <p:spPr>
          <a:xfrm>
            <a:off x="1078992" y="2624328"/>
            <a:ext cx="4617720" cy="438912"/>
          </a:xfrm>
          <a:prstGeom prst="rect">
            <a:avLst/>
          </a:prstGeom>
          <a:noFill/>
          <a:ln/>
        </p:spPr>
        <p:txBody>
          <a:bodyPr wrap="square" lIns="0" tIns="0" rIns="0" bIns="0" rtlCol="0" anchor="ctr"/>
          <a:lstStyle/>
          <a:p>
            <a:pPr marL="0" indent="0">
              <a:buNone/>
            </a:pPr>
            <a:r>
              <a:rPr lang="en-US" sz="1500" dirty="0">
                <a:solidFill>
                  <a:srgbClr val="3A2C55"/>
                </a:solidFill>
                <a:latin typeface="Calibri" pitchFamily="34" charset="0"/>
                <a:ea typeface="Calibri" pitchFamily="34" charset="-122"/>
                <a:cs typeface="Calibri" pitchFamily="34" charset="-120"/>
              </a:rPr>
              <a:t>Introduction</a:t>
            </a:r>
            <a:endParaRPr lang="en-US" sz="1500" dirty="0"/>
          </a:p>
        </p:txBody>
      </p:sp>
      <p:sp>
        <p:nvSpPr>
          <p:cNvPr id="10" name="Shape 8"/>
          <p:cNvSpPr/>
          <p:nvPr/>
        </p:nvSpPr>
        <p:spPr>
          <a:xfrm>
            <a:off x="548640" y="3310128"/>
            <a:ext cx="384048" cy="384048"/>
          </a:xfrm>
          <a:prstGeom prst="ellipse">
            <a:avLst/>
          </a:prstGeom>
          <a:solidFill>
            <a:srgbClr val="E7DFF6"/>
          </a:solidFill>
          <a:ln/>
        </p:spPr>
      </p:sp>
      <p:sp>
        <p:nvSpPr>
          <p:cNvPr id="11" name="Text 9"/>
          <p:cNvSpPr/>
          <p:nvPr/>
        </p:nvSpPr>
        <p:spPr>
          <a:xfrm>
            <a:off x="548640" y="3310128"/>
            <a:ext cx="384048" cy="384048"/>
          </a:xfrm>
          <a:prstGeom prst="rect">
            <a:avLst/>
          </a:prstGeom>
          <a:noFill/>
          <a:ln/>
        </p:spPr>
        <p:txBody>
          <a:bodyPr wrap="square" rtlCol="0" anchor="ctr"/>
          <a:lstStyle/>
          <a:p>
            <a:pPr marL="0" indent="0" algn="ctr">
              <a:buNone/>
            </a:pPr>
            <a:r>
              <a:rPr lang="en-US" sz="1300" b="1" dirty="0">
                <a:solidFill>
                  <a:srgbClr val="4B2E83"/>
                </a:solidFill>
                <a:latin typeface="Calibri" pitchFamily="34" charset="0"/>
                <a:ea typeface="Calibri" pitchFamily="34" charset="-122"/>
                <a:cs typeface="Calibri" pitchFamily="34" charset="-120"/>
              </a:rPr>
              <a:t>03</a:t>
            </a:r>
            <a:endParaRPr lang="en-US" sz="1300" dirty="0"/>
          </a:p>
        </p:txBody>
      </p:sp>
      <p:sp>
        <p:nvSpPr>
          <p:cNvPr id="12" name="Text 10"/>
          <p:cNvSpPr/>
          <p:nvPr/>
        </p:nvSpPr>
        <p:spPr>
          <a:xfrm>
            <a:off x="1078992" y="3282696"/>
            <a:ext cx="4617720" cy="438912"/>
          </a:xfrm>
          <a:prstGeom prst="rect">
            <a:avLst/>
          </a:prstGeom>
          <a:noFill/>
          <a:ln/>
        </p:spPr>
        <p:txBody>
          <a:bodyPr wrap="square" lIns="0" tIns="0" rIns="0" bIns="0" rtlCol="0" anchor="ctr"/>
          <a:lstStyle/>
          <a:p>
            <a:pPr marL="0" indent="0">
              <a:buNone/>
            </a:pPr>
            <a:r>
              <a:rPr lang="en-US" sz="1500" dirty="0">
                <a:solidFill>
                  <a:srgbClr val="3A2C55"/>
                </a:solidFill>
                <a:latin typeface="Calibri" pitchFamily="34" charset="0"/>
                <a:ea typeface="Calibri" pitchFamily="34" charset="-122"/>
                <a:cs typeface="Calibri" pitchFamily="34" charset="-120"/>
              </a:rPr>
              <a:t>Objectives</a:t>
            </a:r>
            <a:endParaRPr lang="en-US" sz="1500" dirty="0"/>
          </a:p>
        </p:txBody>
      </p:sp>
      <p:sp>
        <p:nvSpPr>
          <p:cNvPr id="13" name="Shape 11"/>
          <p:cNvSpPr/>
          <p:nvPr/>
        </p:nvSpPr>
        <p:spPr>
          <a:xfrm>
            <a:off x="548640" y="3968496"/>
            <a:ext cx="384048" cy="384048"/>
          </a:xfrm>
          <a:prstGeom prst="ellipse">
            <a:avLst/>
          </a:prstGeom>
          <a:solidFill>
            <a:srgbClr val="E7DFF6"/>
          </a:solidFill>
          <a:ln/>
        </p:spPr>
      </p:sp>
      <p:sp>
        <p:nvSpPr>
          <p:cNvPr id="14" name="Text 12"/>
          <p:cNvSpPr/>
          <p:nvPr/>
        </p:nvSpPr>
        <p:spPr>
          <a:xfrm>
            <a:off x="548640" y="3968496"/>
            <a:ext cx="384048" cy="384048"/>
          </a:xfrm>
          <a:prstGeom prst="rect">
            <a:avLst/>
          </a:prstGeom>
          <a:noFill/>
          <a:ln/>
        </p:spPr>
        <p:txBody>
          <a:bodyPr wrap="square" rtlCol="0" anchor="ctr"/>
          <a:lstStyle/>
          <a:p>
            <a:pPr marL="0" indent="0" algn="ctr">
              <a:buNone/>
            </a:pPr>
            <a:r>
              <a:rPr lang="en-US" sz="1300" b="1" dirty="0">
                <a:solidFill>
                  <a:srgbClr val="4B2E83"/>
                </a:solidFill>
                <a:latin typeface="Calibri" pitchFamily="34" charset="0"/>
                <a:ea typeface="Calibri" pitchFamily="34" charset="-122"/>
                <a:cs typeface="Calibri" pitchFamily="34" charset="-120"/>
              </a:rPr>
              <a:t>04</a:t>
            </a:r>
            <a:endParaRPr lang="en-US" sz="1300" dirty="0"/>
          </a:p>
        </p:txBody>
      </p:sp>
      <p:sp>
        <p:nvSpPr>
          <p:cNvPr id="15" name="Text 13"/>
          <p:cNvSpPr/>
          <p:nvPr/>
        </p:nvSpPr>
        <p:spPr>
          <a:xfrm>
            <a:off x="1078992" y="3941064"/>
            <a:ext cx="4617720" cy="438912"/>
          </a:xfrm>
          <a:prstGeom prst="rect">
            <a:avLst/>
          </a:prstGeom>
          <a:noFill/>
          <a:ln/>
        </p:spPr>
        <p:txBody>
          <a:bodyPr wrap="square" lIns="0" tIns="0" rIns="0" bIns="0" rtlCol="0" anchor="ctr"/>
          <a:lstStyle/>
          <a:p>
            <a:pPr marL="0" indent="0">
              <a:buNone/>
            </a:pPr>
            <a:r>
              <a:rPr lang="en-US" sz="1500" dirty="0">
                <a:solidFill>
                  <a:srgbClr val="3A2C55"/>
                </a:solidFill>
                <a:latin typeface="Calibri" pitchFamily="34" charset="0"/>
                <a:ea typeface="Calibri" pitchFamily="34" charset="-122"/>
                <a:cs typeface="Calibri" pitchFamily="34" charset="-120"/>
              </a:rPr>
              <a:t>Literature Review</a:t>
            </a:r>
            <a:endParaRPr lang="en-US" sz="1500" dirty="0"/>
          </a:p>
        </p:txBody>
      </p:sp>
      <p:sp>
        <p:nvSpPr>
          <p:cNvPr id="16" name="Shape 14"/>
          <p:cNvSpPr/>
          <p:nvPr/>
        </p:nvSpPr>
        <p:spPr>
          <a:xfrm>
            <a:off x="548640" y="4626864"/>
            <a:ext cx="384048" cy="384048"/>
          </a:xfrm>
          <a:prstGeom prst="ellipse">
            <a:avLst/>
          </a:prstGeom>
          <a:solidFill>
            <a:srgbClr val="E7DFF6"/>
          </a:solidFill>
          <a:ln/>
        </p:spPr>
      </p:sp>
      <p:sp>
        <p:nvSpPr>
          <p:cNvPr id="17" name="Text 15"/>
          <p:cNvSpPr/>
          <p:nvPr/>
        </p:nvSpPr>
        <p:spPr>
          <a:xfrm>
            <a:off x="548640" y="4626864"/>
            <a:ext cx="384048" cy="384048"/>
          </a:xfrm>
          <a:prstGeom prst="rect">
            <a:avLst/>
          </a:prstGeom>
          <a:noFill/>
          <a:ln/>
        </p:spPr>
        <p:txBody>
          <a:bodyPr wrap="square" rtlCol="0" anchor="ctr"/>
          <a:lstStyle/>
          <a:p>
            <a:pPr marL="0" indent="0" algn="ctr">
              <a:buNone/>
            </a:pPr>
            <a:r>
              <a:rPr lang="en-US" sz="1300" b="1" dirty="0">
                <a:solidFill>
                  <a:srgbClr val="4B2E83"/>
                </a:solidFill>
                <a:latin typeface="Calibri" pitchFamily="34" charset="0"/>
                <a:ea typeface="Calibri" pitchFamily="34" charset="-122"/>
                <a:cs typeface="Calibri" pitchFamily="34" charset="-120"/>
              </a:rPr>
              <a:t>05</a:t>
            </a:r>
            <a:endParaRPr lang="en-US" sz="1300" dirty="0"/>
          </a:p>
        </p:txBody>
      </p:sp>
      <p:sp>
        <p:nvSpPr>
          <p:cNvPr id="18" name="Text 16"/>
          <p:cNvSpPr/>
          <p:nvPr/>
        </p:nvSpPr>
        <p:spPr>
          <a:xfrm>
            <a:off x="1078992" y="4599432"/>
            <a:ext cx="4617720" cy="438912"/>
          </a:xfrm>
          <a:prstGeom prst="rect">
            <a:avLst/>
          </a:prstGeom>
          <a:noFill/>
          <a:ln/>
        </p:spPr>
        <p:txBody>
          <a:bodyPr wrap="square" lIns="0" tIns="0" rIns="0" bIns="0" rtlCol="0" anchor="ctr"/>
          <a:lstStyle/>
          <a:p>
            <a:pPr marL="0" indent="0">
              <a:buNone/>
            </a:pPr>
            <a:r>
              <a:rPr lang="en-US" sz="1500" dirty="0">
                <a:solidFill>
                  <a:srgbClr val="3A2C55"/>
                </a:solidFill>
                <a:latin typeface="Calibri" pitchFamily="34" charset="0"/>
                <a:ea typeface="Calibri" pitchFamily="34" charset="-122"/>
                <a:cs typeface="Calibri" pitchFamily="34" charset="-120"/>
              </a:rPr>
              <a:t>Existing System</a:t>
            </a:r>
            <a:endParaRPr lang="en-US" sz="1500" dirty="0"/>
          </a:p>
        </p:txBody>
      </p:sp>
      <p:sp>
        <p:nvSpPr>
          <p:cNvPr id="19" name="Shape 17"/>
          <p:cNvSpPr/>
          <p:nvPr/>
        </p:nvSpPr>
        <p:spPr>
          <a:xfrm>
            <a:off x="548640" y="5285232"/>
            <a:ext cx="384048" cy="384048"/>
          </a:xfrm>
          <a:prstGeom prst="ellipse">
            <a:avLst/>
          </a:prstGeom>
          <a:solidFill>
            <a:srgbClr val="E7DFF6"/>
          </a:solidFill>
          <a:ln/>
        </p:spPr>
      </p:sp>
      <p:sp>
        <p:nvSpPr>
          <p:cNvPr id="20" name="Text 18"/>
          <p:cNvSpPr/>
          <p:nvPr/>
        </p:nvSpPr>
        <p:spPr>
          <a:xfrm>
            <a:off x="548640" y="5285232"/>
            <a:ext cx="384048" cy="384048"/>
          </a:xfrm>
          <a:prstGeom prst="rect">
            <a:avLst/>
          </a:prstGeom>
          <a:noFill/>
          <a:ln/>
        </p:spPr>
        <p:txBody>
          <a:bodyPr wrap="square" rtlCol="0" anchor="ctr"/>
          <a:lstStyle/>
          <a:p>
            <a:pPr marL="0" indent="0" algn="ctr">
              <a:buNone/>
            </a:pPr>
            <a:r>
              <a:rPr lang="en-US" sz="1300" b="1" dirty="0">
                <a:solidFill>
                  <a:srgbClr val="4B2E83"/>
                </a:solidFill>
                <a:latin typeface="Calibri" pitchFamily="34" charset="0"/>
                <a:ea typeface="Calibri" pitchFamily="34" charset="-122"/>
                <a:cs typeface="Calibri" pitchFamily="34" charset="-120"/>
              </a:rPr>
              <a:t>06</a:t>
            </a:r>
            <a:endParaRPr lang="en-US" sz="1300" dirty="0"/>
          </a:p>
        </p:txBody>
      </p:sp>
      <p:sp>
        <p:nvSpPr>
          <p:cNvPr id="21" name="Text 19"/>
          <p:cNvSpPr/>
          <p:nvPr/>
        </p:nvSpPr>
        <p:spPr>
          <a:xfrm>
            <a:off x="1078992" y="5257800"/>
            <a:ext cx="4617720" cy="438912"/>
          </a:xfrm>
          <a:prstGeom prst="rect">
            <a:avLst/>
          </a:prstGeom>
          <a:noFill/>
          <a:ln/>
        </p:spPr>
        <p:txBody>
          <a:bodyPr wrap="square" lIns="0" tIns="0" rIns="0" bIns="0" rtlCol="0" anchor="ctr"/>
          <a:lstStyle/>
          <a:p>
            <a:pPr marL="0" indent="0">
              <a:buNone/>
            </a:pPr>
            <a:r>
              <a:rPr lang="en-US" sz="1500" dirty="0">
                <a:solidFill>
                  <a:srgbClr val="3A2C55"/>
                </a:solidFill>
                <a:latin typeface="Calibri" pitchFamily="34" charset="0"/>
                <a:ea typeface="Calibri" pitchFamily="34" charset="-122"/>
                <a:cs typeface="Calibri" pitchFamily="34" charset="-120"/>
              </a:rPr>
              <a:t>Proposed System &amp; Advantages</a:t>
            </a:r>
            <a:endParaRPr lang="en-US" sz="1500" dirty="0"/>
          </a:p>
        </p:txBody>
      </p:sp>
      <p:sp>
        <p:nvSpPr>
          <p:cNvPr id="22" name="Shape 20"/>
          <p:cNvSpPr/>
          <p:nvPr/>
        </p:nvSpPr>
        <p:spPr>
          <a:xfrm>
            <a:off x="6263640" y="1993392"/>
            <a:ext cx="384048" cy="384048"/>
          </a:xfrm>
          <a:prstGeom prst="ellipse">
            <a:avLst/>
          </a:prstGeom>
          <a:solidFill>
            <a:srgbClr val="E7DFF6"/>
          </a:solidFill>
          <a:ln/>
        </p:spPr>
      </p:sp>
      <p:sp>
        <p:nvSpPr>
          <p:cNvPr id="23" name="Text 21"/>
          <p:cNvSpPr/>
          <p:nvPr/>
        </p:nvSpPr>
        <p:spPr>
          <a:xfrm>
            <a:off x="6263640" y="1993392"/>
            <a:ext cx="384048" cy="384048"/>
          </a:xfrm>
          <a:prstGeom prst="rect">
            <a:avLst/>
          </a:prstGeom>
          <a:noFill/>
          <a:ln/>
        </p:spPr>
        <p:txBody>
          <a:bodyPr wrap="square" rtlCol="0" anchor="ctr"/>
          <a:lstStyle/>
          <a:p>
            <a:pPr marL="0" indent="0" algn="ctr">
              <a:buNone/>
            </a:pPr>
            <a:r>
              <a:rPr lang="en-US" sz="1300" b="1" dirty="0">
                <a:solidFill>
                  <a:srgbClr val="4B2E83"/>
                </a:solidFill>
                <a:latin typeface="Calibri" pitchFamily="34" charset="0"/>
                <a:ea typeface="Calibri" pitchFamily="34" charset="-122"/>
                <a:cs typeface="Calibri" pitchFamily="34" charset="-120"/>
              </a:rPr>
              <a:t>07</a:t>
            </a:r>
            <a:endParaRPr lang="en-US" sz="1300" dirty="0"/>
          </a:p>
        </p:txBody>
      </p:sp>
      <p:sp>
        <p:nvSpPr>
          <p:cNvPr id="24" name="Text 22"/>
          <p:cNvSpPr/>
          <p:nvPr/>
        </p:nvSpPr>
        <p:spPr>
          <a:xfrm>
            <a:off x="6793992" y="1965960"/>
            <a:ext cx="4617720" cy="438912"/>
          </a:xfrm>
          <a:prstGeom prst="rect">
            <a:avLst/>
          </a:prstGeom>
          <a:noFill/>
          <a:ln/>
        </p:spPr>
        <p:txBody>
          <a:bodyPr wrap="square" lIns="0" tIns="0" rIns="0" bIns="0" rtlCol="0" anchor="ctr"/>
          <a:lstStyle/>
          <a:p>
            <a:pPr marL="0" indent="0">
              <a:buNone/>
            </a:pPr>
            <a:r>
              <a:rPr lang="en-US" sz="1500" dirty="0">
                <a:solidFill>
                  <a:srgbClr val="3A2C55"/>
                </a:solidFill>
                <a:latin typeface="Calibri" pitchFamily="34" charset="0"/>
                <a:ea typeface="Calibri" pitchFamily="34" charset="-122"/>
                <a:cs typeface="Calibri" pitchFamily="34" charset="-120"/>
              </a:rPr>
              <a:t>Implementation (Flowchart)</a:t>
            </a:r>
            <a:endParaRPr lang="en-US" sz="1500" dirty="0"/>
          </a:p>
        </p:txBody>
      </p:sp>
      <p:sp>
        <p:nvSpPr>
          <p:cNvPr id="25" name="Shape 23"/>
          <p:cNvSpPr/>
          <p:nvPr/>
        </p:nvSpPr>
        <p:spPr>
          <a:xfrm>
            <a:off x="6263640" y="2651760"/>
            <a:ext cx="384048" cy="384048"/>
          </a:xfrm>
          <a:prstGeom prst="ellipse">
            <a:avLst/>
          </a:prstGeom>
          <a:solidFill>
            <a:srgbClr val="E7DFF6"/>
          </a:solidFill>
          <a:ln/>
        </p:spPr>
      </p:sp>
      <p:sp>
        <p:nvSpPr>
          <p:cNvPr id="26" name="Text 24"/>
          <p:cNvSpPr/>
          <p:nvPr/>
        </p:nvSpPr>
        <p:spPr>
          <a:xfrm>
            <a:off x="6263640" y="2651760"/>
            <a:ext cx="384048" cy="384048"/>
          </a:xfrm>
          <a:prstGeom prst="rect">
            <a:avLst/>
          </a:prstGeom>
          <a:noFill/>
          <a:ln/>
        </p:spPr>
        <p:txBody>
          <a:bodyPr wrap="square" rtlCol="0" anchor="ctr"/>
          <a:lstStyle/>
          <a:p>
            <a:pPr marL="0" indent="0" algn="ctr">
              <a:buNone/>
            </a:pPr>
            <a:r>
              <a:rPr lang="en-US" sz="1300" b="1" dirty="0">
                <a:solidFill>
                  <a:srgbClr val="4B2E83"/>
                </a:solidFill>
                <a:latin typeface="Calibri" pitchFamily="34" charset="0"/>
                <a:ea typeface="Calibri" pitchFamily="34" charset="-122"/>
                <a:cs typeface="Calibri" pitchFamily="34" charset="-120"/>
              </a:rPr>
              <a:t>08</a:t>
            </a:r>
            <a:endParaRPr lang="en-US" sz="1300" dirty="0"/>
          </a:p>
        </p:txBody>
      </p:sp>
      <p:sp>
        <p:nvSpPr>
          <p:cNvPr id="27" name="Text 25"/>
          <p:cNvSpPr/>
          <p:nvPr/>
        </p:nvSpPr>
        <p:spPr>
          <a:xfrm>
            <a:off x="6793992" y="2624328"/>
            <a:ext cx="4617720" cy="438912"/>
          </a:xfrm>
          <a:prstGeom prst="rect">
            <a:avLst/>
          </a:prstGeom>
          <a:noFill/>
          <a:ln/>
        </p:spPr>
        <p:txBody>
          <a:bodyPr wrap="square" lIns="0" tIns="0" rIns="0" bIns="0" rtlCol="0" anchor="ctr"/>
          <a:lstStyle/>
          <a:p>
            <a:pPr marL="0" indent="0">
              <a:buNone/>
            </a:pPr>
            <a:r>
              <a:rPr lang="en-US" sz="1500" dirty="0">
                <a:solidFill>
                  <a:srgbClr val="3A2C55"/>
                </a:solidFill>
                <a:latin typeface="Calibri" pitchFamily="34" charset="0"/>
                <a:ea typeface="Calibri" pitchFamily="34" charset="-122"/>
                <a:cs typeface="Calibri" pitchFamily="34" charset="-120"/>
              </a:rPr>
              <a:t>Module Description</a:t>
            </a:r>
            <a:endParaRPr lang="en-US" sz="1500" dirty="0"/>
          </a:p>
        </p:txBody>
      </p:sp>
      <p:sp>
        <p:nvSpPr>
          <p:cNvPr id="28" name="Shape 26"/>
          <p:cNvSpPr/>
          <p:nvPr/>
        </p:nvSpPr>
        <p:spPr>
          <a:xfrm>
            <a:off x="6263640" y="3310128"/>
            <a:ext cx="384048" cy="384048"/>
          </a:xfrm>
          <a:prstGeom prst="ellipse">
            <a:avLst/>
          </a:prstGeom>
          <a:solidFill>
            <a:srgbClr val="E7DFF6"/>
          </a:solidFill>
          <a:ln/>
        </p:spPr>
      </p:sp>
      <p:sp>
        <p:nvSpPr>
          <p:cNvPr id="29" name="Text 27"/>
          <p:cNvSpPr/>
          <p:nvPr/>
        </p:nvSpPr>
        <p:spPr>
          <a:xfrm>
            <a:off x="6263640" y="3310128"/>
            <a:ext cx="384048" cy="384048"/>
          </a:xfrm>
          <a:prstGeom prst="rect">
            <a:avLst/>
          </a:prstGeom>
          <a:noFill/>
          <a:ln/>
        </p:spPr>
        <p:txBody>
          <a:bodyPr wrap="square" rtlCol="0" anchor="ctr"/>
          <a:lstStyle/>
          <a:p>
            <a:pPr marL="0" indent="0" algn="ctr">
              <a:buNone/>
            </a:pPr>
            <a:r>
              <a:rPr lang="en-US" sz="1300" b="1" dirty="0">
                <a:solidFill>
                  <a:srgbClr val="4B2E83"/>
                </a:solidFill>
                <a:latin typeface="Calibri" pitchFamily="34" charset="0"/>
                <a:ea typeface="Calibri" pitchFamily="34" charset="-122"/>
                <a:cs typeface="Calibri" pitchFamily="34" charset="-120"/>
              </a:rPr>
              <a:t>09</a:t>
            </a:r>
            <a:endParaRPr lang="en-US" sz="1300" dirty="0"/>
          </a:p>
        </p:txBody>
      </p:sp>
      <p:sp>
        <p:nvSpPr>
          <p:cNvPr id="30" name="Text 28"/>
          <p:cNvSpPr/>
          <p:nvPr/>
        </p:nvSpPr>
        <p:spPr>
          <a:xfrm>
            <a:off x="6793992" y="3282696"/>
            <a:ext cx="4617720" cy="438912"/>
          </a:xfrm>
          <a:prstGeom prst="rect">
            <a:avLst/>
          </a:prstGeom>
          <a:noFill/>
          <a:ln/>
        </p:spPr>
        <p:txBody>
          <a:bodyPr wrap="square" lIns="0" tIns="0" rIns="0" bIns="0" rtlCol="0" anchor="ctr"/>
          <a:lstStyle/>
          <a:p>
            <a:pPr marL="0" indent="0">
              <a:buNone/>
            </a:pPr>
            <a:r>
              <a:rPr lang="en-US" sz="1500" dirty="0">
                <a:solidFill>
                  <a:srgbClr val="3A2C55"/>
                </a:solidFill>
                <a:latin typeface="Calibri" pitchFamily="34" charset="0"/>
                <a:ea typeface="Calibri" pitchFamily="34" charset="-122"/>
                <a:cs typeface="Calibri" pitchFamily="34" charset="-120"/>
              </a:rPr>
              <a:t>System &amp; Software Configuration</a:t>
            </a:r>
            <a:endParaRPr lang="en-US" sz="1500" dirty="0"/>
          </a:p>
        </p:txBody>
      </p:sp>
      <p:sp>
        <p:nvSpPr>
          <p:cNvPr id="31" name="Shape 29"/>
          <p:cNvSpPr/>
          <p:nvPr/>
        </p:nvSpPr>
        <p:spPr>
          <a:xfrm>
            <a:off x="6263640" y="3968496"/>
            <a:ext cx="384048" cy="384048"/>
          </a:xfrm>
          <a:prstGeom prst="ellipse">
            <a:avLst/>
          </a:prstGeom>
          <a:solidFill>
            <a:srgbClr val="E7DFF6"/>
          </a:solidFill>
          <a:ln/>
        </p:spPr>
      </p:sp>
      <p:sp>
        <p:nvSpPr>
          <p:cNvPr id="32" name="Text 30"/>
          <p:cNvSpPr/>
          <p:nvPr/>
        </p:nvSpPr>
        <p:spPr>
          <a:xfrm>
            <a:off x="6263640" y="3968496"/>
            <a:ext cx="384048" cy="384048"/>
          </a:xfrm>
          <a:prstGeom prst="rect">
            <a:avLst/>
          </a:prstGeom>
          <a:noFill/>
          <a:ln/>
        </p:spPr>
        <p:txBody>
          <a:bodyPr wrap="square" rtlCol="0" anchor="ctr"/>
          <a:lstStyle/>
          <a:p>
            <a:pPr marL="0" indent="0" algn="ctr">
              <a:buNone/>
            </a:pPr>
            <a:r>
              <a:rPr lang="en-US" sz="1300" b="1" dirty="0">
                <a:solidFill>
                  <a:srgbClr val="4B2E83"/>
                </a:solidFill>
                <a:latin typeface="Calibri" pitchFamily="34" charset="0"/>
                <a:ea typeface="Calibri" pitchFamily="34" charset="-122"/>
                <a:cs typeface="Calibri" pitchFamily="34" charset="-120"/>
              </a:rPr>
              <a:t>10</a:t>
            </a:r>
            <a:endParaRPr lang="en-US" sz="1300" dirty="0"/>
          </a:p>
        </p:txBody>
      </p:sp>
      <p:sp>
        <p:nvSpPr>
          <p:cNvPr id="33" name="Text 31"/>
          <p:cNvSpPr/>
          <p:nvPr/>
        </p:nvSpPr>
        <p:spPr>
          <a:xfrm>
            <a:off x="6793992" y="3941064"/>
            <a:ext cx="4617720" cy="438912"/>
          </a:xfrm>
          <a:prstGeom prst="rect">
            <a:avLst/>
          </a:prstGeom>
          <a:noFill/>
          <a:ln/>
        </p:spPr>
        <p:txBody>
          <a:bodyPr wrap="square" lIns="0" tIns="0" rIns="0" bIns="0" rtlCol="0" anchor="ctr"/>
          <a:lstStyle/>
          <a:p>
            <a:pPr marL="0" indent="0">
              <a:buNone/>
            </a:pPr>
            <a:r>
              <a:rPr lang="en-US" sz="1500" dirty="0">
                <a:solidFill>
                  <a:srgbClr val="3A2C55"/>
                </a:solidFill>
                <a:latin typeface="Calibri" pitchFamily="34" charset="0"/>
                <a:ea typeface="Calibri" pitchFamily="34" charset="-122"/>
                <a:cs typeface="Calibri" pitchFamily="34" charset="-120"/>
              </a:rPr>
              <a:t>Algorithm Discussion</a:t>
            </a:r>
            <a:endParaRPr lang="en-US" sz="1500" dirty="0"/>
          </a:p>
        </p:txBody>
      </p:sp>
      <p:sp>
        <p:nvSpPr>
          <p:cNvPr id="34" name="Shape 32"/>
          <p:cNvSpPr/>
          <p:nvPr/>
        </p:nvSpPr>
        <p:spPr>
          <a:xfrm>
            <a:off x="6263640" y="4626864"/>
            <a:ext cx="384048" cy="384048"/>
          </a:xfrm>
          <a:prstGeom prst="ellipse">
            <a:avLst/>
          </a:prstGeom>
          <a:solidFill>
            <a:srgbClr val="E7DFF6"/>
          </a:solidFill>
          <a:ln/>
        </p:spPr>
      </p:sp>
      <p:sp>
        <p:nvSpPr>
          <p:cNvPr id="35" name="Text 33"/>
          <p:cNvSpPr/>
          <p:nvPr/>
        </p:nvSpPr>
        <p:spPr>
          <a:xfrm>
            <a:off x="6263640" y="4626864"/>
            <a:ext cx="384048" cy="384048"/>
          </a:xfrm>
          <a:prstGeom prst="rect">
            <a:avLst/>
          </a:prstGeom>
          <a:noFill/>
          <a:ln/>
        </p:spPr>
        <p:txBody>
          <a:bodyPr wrap="square" rtlCol="0" anchor="ctr"/>
          <a:lstStyle/>
          <a:p>
            <a:pPr marL="0" indent="0" algn="ctr">
              <a:buNone/>
            </a:pPr>
            <a:r>
              <a:rPr lang="en-US" sz="1300" b="1" dirty="0">
                <a:solidFill>
                  <a:srgbClr val="4B2E83"/>
                </a:solidFill>
                <a:latin typeface="Calibri" pitchFamily="34" charset="0"/>
                <a:ea typeface="Calibri" pitchFamily="34" charset="-122"/>
                <a:cs typeface="Calibri" pitchFamily="34" charset="-120"/>
              </a:rPr>
              <a:t>11</a:t>
            </a:r>
            <a:endParaRPr lang="en-US" sz="1300" dirty="0"/>
          </a:p>
        </p:txBody>
      </p:sp>
      <p:sp>
        <p:nvSpPr>
          <p:cNvPr id="36" name="Text 34"/>
          <p:cNvSpPr/>
          <p:nvPr/>
        </p:nvSpPr>
        <p:spPr>
          <a:xfrm>
            <a:off x="6793992" y="4599432"/>
            <a:ext cx="4617720" cy="438912"/>
          </a:xfrm>
          <a:prstGeom prst="rect">
            <a:avLst/>
          </a:prstGeom>
          <a:noFill/>
          <a:ln/>
        </p:spPr>
        <p:txBody>
          <a:bodyPr wrap="square" lIns="0" tIns="0" rIns="0" bIns="0" rtlCol="0" anchor="ctr"/>
          <a:lstStyle/>
          <a:p>
            <a:pPr marL="0" indent="0">
              <a:buNone/>
            </a:pPr>
            <a:r>
              <a:rPr lang="en-US" sz="1500" dirty="0">
                <a:solidFill>
                  <a:srgbClr val="3A2C55"/>
                </a:solidFill>
                <a:latin typeface="Calibri" pitchFamily="34" charset="0"/>
                <a:ea typeface="Calibri" pitchFamily="34" charset="-122"/>
                <a:cs typeface="Calibri" pitchFamily="34" charset="-120"/>
              </a:rPr>
              <a:t>Conclusion</a:t>
            </a:r>
            <a:endParaRPr lang="en-US" sz="1500" dirty="0"/>
          </a:p>
        </p:txBody>
      </p:sp>
      <p:sp>
        <p:nvSpPr>
          <p:cNvPr id="37" name="Shape 35"/>
          <p:cNvSpPr/>
          <p:nvPr/>
        </p:nvSpPr>
        <p:spPr>
          <a:xfrm>
            <a:off x="6263640" y="5285232"/>
            <a:ext cx="384048" cy="384048"/>
          </a:xfrm>
          <a:prstGeom prst="ellipse">
            <a:avLst/>
          </a:prstGeom>
          <a:solidFill>
            <a:srgbClr val="E7DFF6"/>
          </a:solidFill>
          <a:ln/>
        </p:spPr>
      </p:sp>
      <p:sp>
        <p:nvSpPr>
          <p:cNvPr id="38" name="Text 36"/>
          <p:cNvSpPr/>
          <p:nvPr/>
        </p:nvSpPr>
        <p:spPr>
          <a:xfrm>
            <a:off x="6263640" y="5285232"/>
            <a:ext cx="384048" cy="384048"/>
          </a:xfrm>
          <a:prstGeom prst="rect">
            <a:avLst/>
          </a:prstGeom>
          <a:noFill/>
          <a:ln/>
        </p:spPr>
        <p:txBody>
          <a:bodyPr wrap="square" rtlCol="0" anchor="ctr"/>
          <a:lstStyle/>
          <a:p>
            <a:pPr marL="0" indent="0" algn="ctr">
              <a:buNone/>
            </a:pPr>
            <a:r>
              <a:rPr lang="en-US" sz="1300" b="1" dirty="0">
                <a:solidFill>
                  <a:srgbClr val="4B2E83"/>
                </a:solidFill>
                <a:latin typeface="Calibri" pitchFamily="34" charset="0"/>
                <a:ea typeface="Calibri" pitchFamily="34" charset="-122"/>
                <a:cs typeface="Calibri" pitchFamily="34" charset="-120"/>
              </a:rPr>
              <a:t>12</a:t>
            </a:r>
            <a:endParaRPr lang="en-US" sz="1300" dirty="0"/>
          </a:p>
        </p:txBody>
      </p:sp>
      <p:sp>
        <p:nvSpPr>
          <p:cNvPr id="39" name="Text 37"/>
          <p:cNvSpPr/>
          <p:nvPr/>
        </p:nvSpPr>
        <p:spPr>
          <a:xfrm>
            <a:off x="6793992" y="5257800"/>
            <a:ext cx="4617720" cy="438912"/>
          </a:xfrm>
          <a:prstGeom prst="rect">
            <a:avLst/>
          </a:prstGeom>
          <a:noFill/>
          <a:ln/>
        </p:spPr>
        <p:txBody>
          <a:bodyPr wrap="square" lIns="0" tIns="0" rIns="0" bIns="0" rtlCol="0" anchor="ctr"/>
          <a:lstStyle/>
          <a:p>
            <a:pPr marL="0" indent="0">
              <a:buNone/>
            </a:pPr>
            <a:r>
              <a:rPr lang="en-US" sz="1500" dirty="0">
                <a:solidFill>
                  <a:srgbClr val="3A2C55"/>
                </a:solidFill>
                <a:latin typeface="Calibri" pitchFamily="34" charset="0"/>
                <a:ea typeface="Calibri" pitchFamily="34" charset="-122"/>
                <a:cs typeface="Calibri" pitchFamily="34" charset="-120"/>
              </a:rPr>
              <a:t>References</a:t>
            </a:r>
            <a:endParaRPr lang="en-US" sz="1500" dirty="0"/>
          </a:p>
        </p:txBody>
      </p:sp>
      <p:sp>
        <p:nvSpPr>
          <p:cNvPr id="40" name="Text 38"/>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6B5B95"/>
                </a:solidFill>
                <a:latin typeface="Calibri" pitchFamily="34" charset="0"/>
                <a:ea typeface="Calibri" pitchFamily="34" charset="-122"/>
                <a:cs typeface="Calibri" pitchFamily="34" charset="-120"/>
              </a:rPr>
              <a:t>AI-Powered Scam Website Detection System</a:t>
            </a:r>
            <a:endParaRPr lang="en-US" sz="1000" dirty="0"/>
          </a:p>
        </p:txBody>
      </p:sp>
      <p:sp>
        <p:nvSpPr>
          <p:cNvPr id="41" name="Text 3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5B9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FFB"/>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4B2E83"/>
          </a:solidFill>
          <a:ln/>
        </p:spPr>
      </p:sp>
      <p:pic>
        <p:nvPicPr>
          <p:cNvPr id="3" name="Image 0" descr="icons/filetext_white.png"/>
          <p:cNvPicPr>
            <a:picLocks noChangeAspect="1"/>
          </p:cNvPicPr>
          <p:nvPr/>
        </p:nvPicPr>
        <p:blipFill>
          <a:blip r:embed="rId3"/>
          <a:stretch>
            <a:fillRect/>
          </a:stretch>
        </p:blipFill>
        <p:spPr>
          <a:xfrm>
            <a:off x="1417320" y="914400"/>
            <a:ext cx="1371600" cy="1371600"/>
          </a:xfrm>
          <a:prstGeom prst="rect">
            <a:avLst/>
          </a:prstGeom>
        </p:spPr>
      </p:pic>
      <p:sp>
        <p:nvSpPr>
          <p:cNvPr id="4" name="Text 1"/>
          <p:cNvSpPr/>
          <p:nvPr/>
        </p:nvSpPr>
        <p:spPr>
          <a:xfrm>
            <a:off x="457200" y="2514600"/>
            <a:ext cx="3291840" cy="45720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ABSTRACT</a:t>
            </a:r>
            <a:endParaRPr lang="en-US" sz="2600" dirty="0"/>
          </a:p>
        </p:txBody>
      </p:sp>
      <p:sp>
        <p:nvSpPr>
          <p:cNvPr id="5" name="Text 2"/>
          <p:cNvSpPr/>
          <p:nvPr/>
        </p:nvSpPr>
        <p:spPr>
          <a:xfrm>
            <a:off x="640080" y="3063240"/>
            <a:ext cx="2926080" cy="914400"/>
          </a:xfrm>
          <a:prstGeom prst="rect">
            <a:avLst/>
          </a:prstGeom>
          <a:noFill/>
          <a:ln/>
        </p:spPr>
        <p:txBody>
          <a:bodyPr wrap="square" rtlCol="0" anchor="ctr"/>
          <a:lstStyle/>
          <a:p>
            <a:pPr marL="0" indent="0" algn="ctr">
              <a:buNone/>
            </a:pPr>
            <a:r>
              <a:rPr lang="en-US" sz="1200" i="1" dirty="0">
                <a:solidFill>
                  <a:srgbClr val="E7DFF6"/>
                </a:solidFill>
                <a:latin typeface="Calibri" pitchFamily="34" charset="0"/>
                <a:ea typeface="Calibri" pitchFamily="34" charset="-122"/>
                <a:cs typeface="Calibri" pitchFamily="34" charset="-120"/>
              </a:rPr>
              <a:t>A concise summary of the problem, approach, and outcome of the project.</a:t>
            </a:r>
            <a:endParaRPr lang="en-US" sz="1200" dirty="0"/>
          </a:p>
        </p:txBody>
      </p:sp>
      <p:sp>
        <p:nvSpPr>
          <p:cNvPr id="6" name="Text 3"/>
          <p:cNvSpPr/>
          <p:nvPr/>
        </p:nvSpPr>
        <p:spPr>
          <a:xfrm>
            <a:off x="4709160" y="914400"/>
            <a:ext cx="6949440" cy="5120640"/>
          </a:xfrm>
          <a:prstGeom prst="rect">
            <a:avLst/>
          </a:prstGeom>
          <a:noFill/>
          <a:ln/>
        </p:spPr>
        <p:txBody>
          <a:bodyPr wrap="square" rtlCol="0" anchor="t"/>
          <a:lstStyle/>
          <a:p>
            <a:pPr marL="0" indent="0">
              <a:lnSpc>
                <a:spcPct val="125000"/>
              </a:lnSpc>
              <a:buNone/>
            </a:pPr>
            <a:r>
              <a:rPr lang="en-US" sz="1400" dirty="0">
                <a:solidFill>
                  <a:srgbClr val="4A4160"/>
                </a:solidFill>
                <a:latin typeface="Calibri" pitchFamily="34" charset="0"/>
                <a:ea typeface="Calibri" pitchFamily="34" charset="-122"/>
                <a:cs typeface="Calibri" pitchFamily="34" charset="-120"/>
              </a:rPr>
              <a:t>Online scams and phishing websites are a fast-growing threat, tricking users into revealing passwords, banking details, and personal data through convincing fake pages. Most internet users have no quick, reliable way to judge whether a site is safe before they interact with it.</a:t>
            </a:r>
            <a:endParaRPr lang="en-US" sz="1400" dirty="0"/>
          </a:p>
          <a:p>
            <a:pPr marL="0" indent="0">
              <a:lnSpc>
                <a:spcPct val="125000"/>
              </a:lnSpc>
              <a:buNone/>
            </a:pPr>
            <a:endParaRPr lang="en-US" sz="1400" dirty="0"/>
          </a:p>
          <a:p>
            <a:pPr marL="0" indent="0">
              <a:lnSpc>
                <a:spcPct val="125000"/>
              </a:lnSpc>
              <a:buNone/>
            </a:pPr>
            <a:r>
              <a:rPr lang="en-US" sz="1400" dirty="0">
                <a:solidFill>
                  <a:srgbClr val="4A4160"/>
                </a:solidFill>
                <a:latin typeface="Calibri" pitchFamily="34" charset="0"/>
                <a:ea typeface="Calibri" pitchFamily="34" charset="-122"/>
                <a:cs typeface="Calibri" pitchFamily="34" charset="-120"/>
              </a:rPr>
              <a:t>This project presents an AI-Powered Scam Website Detection System — a web application that accepts any URL and returns an easy-to-understand trust score. The system combines rule-based checks (HTTPS status, domain information, and suspicious URL patterns) with an optional AI-based content analysis using the Gemini API, then stores every scan in a searchable history using MongoDB.</a:t>
            </a:r>
            <a:endParaRPr lang="en-US" sz="1400" dirty="0"/>
          </a:p>
          <a:p>
            <a:pPr marL="0" indent="0">
              <a:lnSpc>
                <a:spcPct val="125000"/>
              </a:lnSpc>
              <a:buNone/>
            </a:pPr>
            <a:endParaRPr lang="en-US" sz="1400" dirty="0"/>
          </a:p>
          <a:p>
            <a:pPr marL="0" indent="0">
              <a:lnSpc>
                <a:spcPct val="125000"/>
              </a:lnSpc>
              <a:buNone/>
            </a:pPr>
            <a:r>
              <a:rPr lang="en-US" sz="1400" dirty="0">
                <a:solidFill>
                  <a:srgbClr val="4A4160"/>
                </a:solidFill>
                <a:latin typeface="Calibri" pitchFamily="34" charset="0"/>
                <a:ea typeface="Calibri" pitchFamily="34" charset="-122"/>
                <a:cs typeface="Calibri" pitchFamily="34" charset="-120"/>
              </a:rPr>
              <a:t>The result is a lightweight, browser-accessible tool that turns technical security signals into one simple decision aid, helping students, online shoppers, and first-time internet users browse more safely and with greater confidence.</a:t>
            </a:r>
            <a:endParaRPr lang="en-US" sz="1400" dirty="0"/>
          </a:p>
        </p:txBody>
      </p:sp>
      <p:sp>
        <p:nvSpPr>
          <p:cNvPr id="7" name="Text 4"/>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6B5B95"/>
                </a:solidFill>
                <a:latin typeface="Calibri" pitchFamily="34" charset="0"/>
                <a:ea typeface="Calibri" pitchFamily="34" charset="-122"/>
                <a:cs typeface="Calibri" pitchFamily="34" charset="-120"/>
              </a:rPr>
              <a:t>AI-Powered Scam Website Detection System</a:t>
            </a:r>
            <a:endParaRPr lang="en-US" sz="1000" dirty="0"/>
          </a:p>
        </p:txBody>
      </p:sp>
      <p:sp>
        <p:nvSpPr>
          <p:cNvPr id="8" name="Text 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5B9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B7FC7"/>
                </a:solidFill>
                <a:latin typeface="Calibri" pitchFamily="34" charset="0"/>
                <a:ea typeface="Calibri" pitchFamily="34" charset="-122"/>
                <a:cs typeface="Calibri" pitchFamily="34" charset="-120"/>
              </a:rPr>
              <a:t>INTRODUCTION</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200" b="1" dirty="0">
                <a:solidFill>
                  <a:srgbClr val="3A2C55"/>
                </a:solidFill>
                <a:latin typeface="Cambria" pitchFamily="34" charset="0"/>
                <a:ea typeface="Cambria" pitchFamily="34" charset="-122"/>
                <a:cs typeface="Cambria" pitchFamily="34" charset="-120"/>
              </a:rPr>
              <a:t>Why This Project Matters</a:t>
            </a:r>
            <a:endParaRPr lang="en-US" sz="3200" dirty="0"/>
          </a:p>
        </p:txBody>
      </p:sp>
      <p:sp>
        <p:nvSpPr>
          <p:cNvPr id="4" name="Shape 2"/>
          <p:cNvSpPr/>
          <p:nvPr/>
        </p:nvSpPr>
        <p:spPr>
          <a:xfrm>
            <a:off x="548640" y="1965960"/>
            <a:ext cx="5394960" cy="1783080"/>
          </a:xfrm>
          <a:prstGeom prst="roundRect">
            <a:avLst>
              <a:gd name="adj" fmla="val 4103"/>
            </a:avLst>
          </a:prstGeom>
          <a:solidFill>
            <a:srgbClr val="F4EFFB"/>
          </a:solidFill>
          <a:ln/>
        </p:spPr>
      </p:sp>
      <p:sp>
        <p:nvSpPr>
          <p:cNvPr id="5" name="Shape 3"/>
          <p:cNvSpPr/>
          <p:nvPr/>
        </p:nvSpPr>
        <p:spPr>
          <a:xfrm>
            <a:off x="804672" y="2221992"/>
            <a:ext cx="566928" cy="566928"/>
          </a:xfrm>
          <a:prstGeom prst="ellipse">
            <a:avLst/>
          </a:prstGeom>
          <a:solidFill>
            <a:srgbClr val="4B2E83"/>
          </a:solidFill>
          <a:ln/>
        </p:spPr>
      </p:sp>
      <p:pic>
        <p:nvPicPr>
          <p:cNvPr id="6" name="Image 0" descr="icons/globe_white.png"/>
          <p:cNvPicPr>
            <a:picLocks noChangeAspect="1"/>
          </p:cNvPicPr>
          <p:nvPr/>
        </p:nvPicPr>
        <p:blipFill>
          <a:blip r:embed="rId3"/>
          <a:stretch>
            <a:fillRect/>
          </a:stretch>
        </p:blipFill>
        <p:spPr>
          <a:xfrm>
            <a:off x="932688" y="2350008"/>
            <a:ext cx="310896" cy="310896"/>
          </a:xfrm>
          <a:prstGeom prst="rect">
            <a:avLst/>
          </a:prstGeom>
        </p:spPr>
      </p:pic>
      <p:sp>
        <p:nvSpPr>
          <p:cNvPr id="7" name="Text 4"/>
          <p:cNvSpPr/>
          <p:nvPr/>
        </p:nvSpPr>
        <p:spPr>
          <a:xfrm>
            <a:off x="1554480" y="2167128"/>
            <a:ext cx="4206240" cy="365760"/>
          </a:xfrm>
          <a:prstGeom prst="rect">
            <a:avLst/>
          </a:prstGeom>
          <a:noFill/>
          <a:ln/>
        </p:spPr>
        <p:txBody>
          <a:bodyPr wrap="square" lIns="0" tIns="0" rIns="0" bIns="0" rtlCol="0" anchor="ctr"/>
          <a:lstStyle/>
          <a:p>
            <a:pPr marL="0" indent="0">
              <a:buNone/>
            </a:pPr>
            <a:r>
              <a:rPr lang="en-US" sz="1500" b="1" dirty="0">
                <a:solidFill>
                  <a:srgbClr val="3A2C55"/>
                </a:solidFill>
                <a:latin typeface="Calibri" pitchFamily="34" charset="0"/>
                <a:ea typeface="Calibri" pitchFamily="34" charset="-122"/>
                <a:cs typeface="Calibri" pitchFamily="34" charset="-120"/>
              </a:rPr>
              <a:t>A Growing Threat</a:t>
            </a:r>
            <a:endParaRPr lang="en-US" sz="1500" dirty="0"/>
          </a:p>
        </p:txBody>
      </p:sp>
      <p:sp>
        <p:nvSpPr>
          <p:cNvPr id="8" name="Text 5"/>
          <p:cNvSpPr/>
          <p:nvPr/>
        </p:nvSpPr>
        <p:spPr>
          <a:xfrm>
            <a:off x="1554480" y="2532888"/>
            <a:ext cx="4251960" cy="1097280"/>
          </a:xfrm>
          <a:prstGeom prst="rect">
            <a:avLst/>
          </a:prstGeom>
          <a:noFill/>
          <a:ln/>
        </p:spPr>
        <p:txBody>
          <a:bodyPr wrap="square" lIns="0" tIns="0" rIns="0" bIns="0" rtlCol="0" anchor="t"/>
          <a:lstStyle/>
          <a:p>
            <a:pPr marL="0" indent="0">
              <a:lnSpc>
                <a:spcPct val="115000"/>
              </a:lnSpc>
              <a:buNone/>
            </a:pPr>
            <a:r>
              <a:rPr lang="en-US" sz="1150" dirty="0">
                <a:solidFill>
                  <a:srgbClr val="4A4160"/>
                </a:solidFill>
                <a:latin typeface="Calibri" pitchFamily="34" charset="0"/>
                <a:ea typeface="Calibri" pitchFamily="34" charset="-122"/>
                <a:cs typeface="Calibri" pitchFamily="34" charset="-120"/>
              </a:rPr>
              <a:t>Phishing and scam websites are among the most common forms of cybercrime, often imitating trusted brands like banks, e-commerce stores, and government portals.</a:t>
            </a:r>
            <a:endParaRPr lang="en-US" sz="1150" dirty="0"/>
          </a:p>
        </p:txBody>
      </p:sp>
      <p:sp>
        <p:nvSpPr>
          <p:cNvPr id="9" name="Shape 6"/>
          <p:cNvSpPr/>
          <p:nvPr/>
        </p:nvSpPr>
        <p:spPr>
          <a:xfrm>
            <a:off x="6263640" y="1965960"/>
            <a:ext cx="5394960" cy="1783080"/>
          </a:xfrm>
          <a:prstGeom prst="roundRect">
            <a:avLst>
              <a:gd name="adj" fmla="val 4103"/>
            </a:avLst>
          </a:prstGeom>
          <a:solidFill>
            <a:srgbClr val="F4EFFB"/>
          </a:solidFill>
          <a:ln/>
        </p:spPr>
      </p:sp>
      <p:sp>
        <p:nvSpPr>
          <p:cNvPr id="10" name="Shape 7"/>
          <p:cNvSpPr/>
          <p:nvPr/>
        </p:nvSpPr>
        <p:spPr>
          <a:xfrm>
            <a:off x="6519672" y="2221992"/>
            <a:ext cx="566928" cy="566928"/>
          </a:xfrm>
          <a:prstGeom prst="ellipse">
            <a:avLst/>
          </a:prstGeom>
          <a:solidFill>
            <a:srgbClr val="4B2E83"/>
          </a:solidFill>
          <a:ln/>
        </p:spPr>
      </p:sp>
      <p:pic>
        <p:nvPicPr>
          <p:cNvPr id="11" name="Image 1" descr="icons/alertoctagon_white.png"/>
          <p:cNvPicPr>
            <a:picLocks noChangeAspect="1"/>
          </p:cNvPicPr>
          <p:nvPr/>
        </p:nvPicPr>
        <p:blipFill>
          <a:blip r:embed="rId4"/>
          <a:stretch>
            <a:fillRect/>
          </a:stretch>
        </p:blipFill>
        <p:spPr>
          <a:xfrm>
            <a:off x="6647688" y="2350008"/>
            <a:ext cx="310896" cy="310896"/>
          </a:xfrm>
          <a:prstGeom prst="rect">
            <a:avLst/>
          </a:prstGeom>
        </p:spPr>
      </p:pic>
      <p:sp>
        <p:nvSpPr>
          <p:cNvPr id="12" name="Text 8"/>
          <p:cNvSpPr/>
          <p:nvPr/>
        </p:nvSpPr>
        <p:spPr>
          <a:xfrm>
            <a:off x="7269480" y="2167128"/>
            <a:ext cx="4206240" cy="365760"/>
          </a:xfrm>
          <a:prstGeom prst="rect">
            <a:avLst/>
          </a:prstGeom>
          <a:noFill/>
          <a:ln/>
        </p:spPr>
        <p:txBody>
          <a:bodyPr wrap="square" lIns="0" tIns="0" rIns="0" bIns="0" rtlCol="0" anchor="ctr"/>
          <a:lstStyle/>
          <a:p>
            <a:pPr marL="0" indent="0">
              <a:buNone/>
            </a:pPr>
            <a:r>
              <a:rPr lang="en-US" sz="1500" b="1" dirty="0">
                <a:solidFill>
                  <a:srgbClr val="3A2C55"/>
                </a:solidFill>
                <a:latin typeface="Calibri" pitchFamily="34" charset="0"/>
                <a:ea typeface="Calibri" pitchFamily="34" charset="-122"/>
                <a:cs typeface="Calibri" pitchFamily="34" charset="-120"/>
              </a:rPr>
              <a:t>Hard to Spot</a:t>
            </a:r>
            <a:endParaRPr lang="en-US" sz="1500" dirty="0"/>
          </a:p>
        </p:txBody>
      </p:sp>
      <p:sp>
        <p:nvSpPr>
          <p:cNvPr id="13" name="Text 9"/>
          <p:cNvSpPr/>
          <p:nvPr/>
        </p:nvSpPr>
        <p:spPr>
          <a:xfrm>
            <a:off x="7269480" y="2532888"/>
            <a:ext cx="4251960" cy="1097280"/>
          </a:xfrm>
          <a:prstGeom prst="rect">
            <a:avLst/>
          </a:prstGeom>
          <a:noFill/>
          <a:ln/>
        </p:spPr>
        <p:txBody>
          <a:bodyPr wrap="square" lIns="0" tIns="0" rIns="0" bIns="0" rtlCol="0" anchor="t"/>
          <a:lstStyle/>
          <a:p>
            <a:pPr marL="0" indent="0">
              <a:lnSpc>
                <a:spcPct val="115000"/>
              </a:lnSpc>
              <a:buNone/>
            </a:pPr>
            <a:r>
              <a:rPr lang="en-US" sz="1150" dirty="0">
                <a:solidFill>
                  <a:srgbClr val="4A4160"/>
                </a:solidFill>
                <a:latin typeface="Calibri" pitchFamily="34" charset="0"/>
                <a:ea typeface="Calibri" pitchFamily="34" charset="-122"/>
                <a:cs typeface="Calibri" pitchFamily="34" charset="-120"/>
              </a:rPr>
              <a:t>Fake sites can look almost identical to genuine ones, making them very difficult for an untrained eye to identify — especially on a small mobile screen.</a:t>
            </a:r>
            <a:endParaRPr lang="en-US" sz="1150" dirty="0"/>
          </a:p>
        </p:txBody>
      </p:sp>
      <p:sp>
        <p:nvSpPr>
          <p:cNvPr id="14" name="Shape 10"/>
          <p:cNvSpPr/>
          <p:nvPr/>
        </p:nvSpPr>
        <p:spPr>
          <a:xfrm>
            <a:off x="548640" y="3977640"/>
            <a:ext cx="5394960" cy="1783080"/>
          </a:xfrm>
          <a:prstGeom prst="roundRect">
            <a:avLst>
              <a:gd name="adj" fmla="val 4103"/>
            </a:avLst>
          </a:prstGeom>
          <a:solidFill>
            <a:srgbClr val="F4EFFB"/>
          </a:solidFill>
          <a:ln/>
        </p:spPr>
      </p:sp>
      <p:sp>
        <p:nvSpPr>
          <p:cNvPr id="15" name="Shape 11"/>
          <p:cNvSpPr/>
          <p:nvPr/>
        </p:nvSpPr>
        <p:spPr>
          <a:xfrm>
            <a:off x="804672" y="4233672"/>
            <a:ext cx="566928" cy="566928"/>
          </a:xfrm>
          <a:prstGeom prst="ellipse">
            <a:avLst/>
          </a:prstGeom>
          <a:solidFill>
            <a:srgbClr val="4B2E83"/>
          </a:solidFill>
          <a:ln/>
        </p:spPr>
      </p:sp>
      <p:pic>
        <p:nvPicPr>
          <p:cNvPr id="16" name="Image 2" descr="icons/users_white.png"/>
          <p:cNvPicPr>
            <a:picLocks noChangeAspect="1"/>
          </p:cNvPicPr>
          <p:nvPr/>
        </p:nvPicPr>
        <p:blipFill>
          <a:blip r:embed="rId5"/>
          <a:stretch>
            <a:fillRect/>
          </a:stretch>
        </p:blipFill>
        <p:spPr>
          <a:xfrm>
            <a:off x="932688" y="4361688"/>
            <a:ext cx="310896" cy="310896"/>
          </a:xfrm>
          <a:prstGeom prst="rect">
            <a:avLst/>
          </a:prstGeom>
        </p:spPr>
      </p:pic>
      <p:sp>
        <p:nvSpPr>
          <p:cNvPr id="17" name="Text 12"/>
          <p:cNvSpPr/>
          <p:nvPr/>
        </p:nvSpPr>
        <p:spPr>
          <a:xfrm>
            <a:off x="1554480" y="4178808"/>
            <a:ext cx="4206240" cy="365760"/>
          </a:xfrm>
          <a:prstGeom prst="rect">
            <a:avLst/>
          </a:prstGeom>
          <a:noFill/>
          <a:ln/>
        </p:spPr>
        <p:txBody>
          <a:bodyPr wrap="square" lIns="0" tIns="0" rIns="0" bIns="0" rtlCol="0" anchor="ctr"/>
          <a:lstStyle/>
          <a:p>
            <a:pPr marL="0" indent="0">
              <a:buNone/>
            </a:pPr>
            <a:r>
              <a:rPr lang="en-US" sz="1500" b="1" dirty="0">
                <a:solidFill>
                  <a:srgbClr val="3A2C55"/>
                </a:solidFill>
                <a:latin typeface="Calibri" pitchFamily="34" charset="0"/>
                <a:ea typeface="Calibri" pitchFamily="34" charset="-122"/>
                <a:cs typeface="Calibri" pitchFamily="34" charset="-120"/>
              </a:rPr>
              <a:t>Who Is Affected</a:t>
            </a:r>
            <a:endParaRPr lang="en-US" sz="1500" dirty="0"/>
          </a:p>
        </p:txBody>
      </p:sp>
      <p:sp>
        <p:nvSpPr>
          <p:cNvPr id="18" name="Text 13"/>
          <p:cNvSpPr/>
          <p:nvPr/>
        </p:nvSpPr>
        <p:spPr>
          <a:xfrm>
            <a:off x="1554480" y="4544568"/>
            <a:ext cx="4251960" cy="1097280"/>
          </a:xfrm>
          <a:prstGeom prst="rect">
            <a:avLst/>
          </a:prstGeom>
          <a:noFill/>
          <a:ln/>
        </p:spPr>
        <p:txBody>
          <a:bodyPr wrap="square" lIns="0" tIns="0" rIns="0" bIns="0" rtlCol="0" anchor="t"/>
          <a:lstStyle/>
          <a:p>
            <a:pPr marL="0" indent="0">
              <a:lnSpc>
                <a:spcPct val="115000"/>
              </a:lnSpc>
              <a:buNone/>
            </a:pPr>
            <a:r>
              <a:rPr lang="en-US" sz="1150" dirty="0">
                <a:solidFill>
                  <a:srgbClr val="4A4160"/>
                </a:solidFill>
                <a:latin typeface="Calibri" pitchFamily="34" charset="0"/>
                <a:ea typeface="Calibri" pitchFamily="34" charset="-122"/>
                <a:cs typeface="Calibri" pitchFamily="34" charset="-120"/>
              </a:rPr>
              <a:t>Students, online shoppers, and first-time internet users are the most vulnerable, as they may not know what red flags to look for before entering personal details.</a:t>
            </a:r>
            <a:endParaRPr lang="en-US" sz="1150" dirty="0"/>
          </a:p>
        </p:txBody>
      </p:sp>
      <p:sp>
        <p:nvSpPr>
          <p:cNvPr id="19" name="Shape 14"/>
          <p:cNvSpPr/>
          <p:nvPr/>
        </p:nvSpPr>
        <p:spPr>
          <a:xfrm>
            <a:off x="6263640" y="3977640"/>
            <a:ext cx="5394960" cy="1783080"/>
          </a:xfrm>
          <a:prstGeom prst="roundRect">
            <a:avLst>
              <a:gd name="adj" fmla="val 4103"/>
            </a:avLst>
          </a:prstGeom>
          <a:solidFill>
            <a:srgbClr val="F4EFFB"/>
          </a:solidFill>
          <a:ln/>
        </p:spPr>
      </p:sp>
      <p:sp>
        <p:nvSpPr>
          <p:cNvPr id="20" name="Shape 15"/>
          <p:cNvSpPr/>
          <p:nvPr/>
        </p:nvSpPr>
        <p:spPr>
          <a:xfrm>
            <a:off x="6519672" y="4233672"/>
            <a:ext cx="566928" cy="566928"/>
          </a:xfrm>
          <a:prstGeom prst="ellipse">
            <a:avLst/>
          </a:prstGeom>
          <a:solidFill>
            <a:srgbClr val="4B2E83"/>
          </a:solidFill>
          <a:ln/>
        </p:spPr>
      </p:sp>
      <p:pic>
        <p:nvPicPr>
          <p:cNvPr id="21" name="Image 3" descr="icons/shield_white.png"/>
          <p:cNvPicPr>
            <a:picLocks noChangeAspect="1"/>
          </p:cNvPicPr>
          <p:nvPr/>
        </p:nvPicPr>
        <p:blipFill>
          <a:blip r:embed="rId6"/>
          <a:stretch>
            <a:fillRect/>
          </a:stretch>
        </p:blipFill>
        <p:spPr>
          <a:xfrm>
            <a:off x="6647688" y="4361688"/>
            <a:ext cx="310896" cy="310896"/>
          </a:xfrm>
          <a:prstGeom prst="rect">
            <a:avLst/>
          </a:prstGeom>
        </p:spPr>
      </p:pic>
      <p:sp>
        <p:nvSpPr>
          <p:cNvPr id="22" name="Text 16"/>
          <p:cNvSpPr/>
          <p:nvPr/>
        </p:nvSpPr>
        <p:spPr>
          <a:xfrm>
            <a:off x="7269480" y="4178808"/>
            <a:ext cx="4206240" cy="365760"/>
          </a:xfrm>
          <a:prstGeom prst="rect">
            <a:avLst/>
          </a:prstGeom>
          <a:noFill/>
          <a:ln/>
        </p:spPr>
        <p:txBody>
          <a:bodyPr wrap="square" lIns="0" tIns="0" rIns="0" bIns="0" rtlCol="0" anchor="ctr"/>
          <a:lstStyle/>
          <a:p>
            <a:pPr marL="0" indent="0">
              <a:buNone/>
            </a:pPr>
            <a:r>
              <a:rPr lang="en-US" sz="1500" b="1" dirty="0">
                <a:solidFill>
                  <a:srgbClr val="3A2C55"/>
                </a:solidFill>
                <a:latin typeface="Calibri" pitchFamily="34" charset="0"/>
                <a:ea typeface="Calibri" pitchFamily="34" charset="-122"/>
                <a:cs typeface="Calibri" pitchFamily="34" charset="-120"/>
              </a:rPr>
              <a:t>Our Response</a:t>
            </a:r>
            <a:endParaRPr lang="en-US" sz="1500" dirty="0"/>
          </a:p>
        </p:txBody>
      </p:sp>
      <p:sp>
        <p:nvSpPr>
          <p:cNvPr id="23" name="Text 17"/>
          <p:cNvSpPr/>
          <p:nvPr/>
        </p:nvSpPr>
        <p:spPr>
          <a:xfrm>
            <a:off x="7269480" y="4544568"/>
            <a:ext cx="4251960" cy="1097280"/>
          </a:xfrm>
          <a:prstGeom prst="rect">
            <a:avLst/>
          </a:prstGeom>
          <a:noFill/>
          <a:ln/>
        </p:spPr>
        <p:txBody>
          <a:bodyPr wrap="square" lIns="0" tIns="0" rIns="0" bIns="0" rtlCol="0" anchor="t"/>
          <a:lstStyle/>
          <a:p>
            <a:pPr marL="0" indent="0">
              <a:lnSpc>
                <a:spcPct val="115000"/>
              </a:lnSpc>
              <a:buNone/>
            </a:pPr>
            <a:r>
              <a:rPr lang="en-US" sz="1150" dirty="0">
                <a:solidFill>
                  <a:srgbClr val="4A4160"/>
                </a:solidFill>
                <a:latin typeface="Calibri" pitchFamily="34" charset="0"/>
                <a:ea typeface="Calibri" pitchFamily="34" charset="-122"/>
                <a:cs typeface="Calibri" pitchFamily="34" charset="-120"/>
              </a:rPr>
              <a:t>This project builds a simple web tool that automatically inspects a URL and returns a plain-language trust score, so anyone can make a safer browsing decision in seconds.</a:t>
            </a:r>
            <a:endParaRPr lang="en-US" sz="1150" dirty="0"/>
          </a:p>
        </p:txBody>
      </p:sp>
      <p:sp>
        <p:nvSpPr>
          <p:cNvPr id="24" name="Text 18"/>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6B5B95"/>
                </a:solidFill>
                <a:latin typeface="Calibri" pitchFamily="34" charset="0"/>
                <a:ea typeface="Calibri" pitchFamily="34" charset="-122"/>
                <a:cs typeface="Calibri" pitchFamily="34" charset="-120"/>
              </a:rPr>
              <a:t>AI-Powered Scam Website Detection System</a:t>
            </a:r>
            <a:endParaRPr lang="en-US" sz="1000" dirty="0"/>
          </a:p>
        </p:txBody>
      </p:sp>
      <p:sp>
        <p:nvSpPr>
          <p:cNvPr id="25" name="Text 1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5B9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B7FC7"/>
                </a:solidFill>
                <a:latin typeface="Calibri" pitchFamily="34" charset="0"/>
                <a:ea typeface="Calibri" pitchFamily="34" charset="-122"/>
                <a:cs typeface="Calibri" pitchFamily="34" charset="-120"/>
              </a:rPr>
              <a:t>OBJECTIVES</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200" b="1" dirty="0">
                <a:solidFill>
                  <a:srgbClr val="3A2C55"/>
                </a:solidFill>
                <a:latin typeface="Cambria" pitchFamily="34" charset="0"/>
                <a:ea typeface="Cambria" pitchFamily="34" charset="-122"/>
                <a:cs typeface="Cambria" pitchFamily="34" charset="-120"/>
              </a:rPr>
              <a:t>What the System Aims to Achieve</a:t>
            </a:r>
            <a:endParaRPr lang="en-US" sz="3200" dirty="0"/>
          </a:p>
        </p:txBody>
      </p:sp>
      <p:sp>
        <p:nvSpPr>
          <p:cNvPr id="4" name="Shape 2"/>
          <p:cNvSpPr/>
          <p:nvPr/>
        </p:nvSpPr>
        <p:spPr>
          <a:xfrm>
            <a:off x="548640" y="1762760"/>
            <a:ext cx="11064240" cy="749808"/>
          </a:xfrm>
          <a:prstGeom prst="roundRect">
            <a:avLst>
              <a:gd name="adj" fmla="val 7317"/>
            </a:avLst>
          </a:prstGeom>
          <a:solidFill>
            <a:srgbClr val="F4EFFB"/>
          </a:solidFill>
          <a:ln/>
        </p:spPr>
      </p:sp>
      <p:sp>
        <p:nvSpPr>
          <p:cNvPr id="5" name="Shape 3"/>
          <p:cNvSpPr/>
          <p:nvPr/>
        </p:nvSpPr>
        <p:spPr>
          <a:xfrm>
            <a:off x="777240" y="1927352"/>
            <a:ext cx="420624" cy="420624"/>
          </a:xfrm>
          <a:prstGeom prst="ellipse">
            <a:avLst/>
          </a:prstGeom>
          <a:solidFill>
            <a:srgbClr val="9B7FC7"/>
          </a:solidFill>
          <a:ln/>
        </p:spPr>
      </p:sp>
      <p:sp>
        <p:nvSpPr>
          <p:cNvPr id="6" name="Text 4"/>
          <p:cNvSpPr/>
          <p:nvPr/>
        </p:nvSpPr>
        <p:spPr>
          <a:xfrm>
            <a:off x="777240" y="1927352"/>
            <a:ext cx="420624" cy="420624"/>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17320" y="1762760"/>
            <a:ext cx="9966960" cy="749808"/>
          </a:xfrm>
          <a:prstGeom prst="rect">
            <a:avLst/>
          </a:prstGeom>
          <a:noFill/>
          <a:ln/>
        </p:spPr>
        <p:txBody>
          <a:bodyPr wrap="square" lIns="0" tIns="0" rIns="0" bIns="0" rtlCol="0" anchor="ctr"/>
          <a:lstStyle/>
          <a:p>
            <a:pPr marL="0" indent="0">
              <a:buNone/>
            </a:pPr>
            <a:r>
              <a:rPr lang="en-US" sz="1350" dirty="0">
                <a:solidFill>
                  <a:srgbClr val="3A2C55"/>
                </a:solidFill>
                <a:latin typeface="Calibri" pitchFamily="34" charset="0"/>
                <a:ea typeface="Calibri" pitchFamily="34" charset="-122"/>
                <a:cs typeface="Calibri" pitchFamily="34" charset="-120"/>
              </a:rPr>
              <a:t>Build a web application that instantly checks any submitted URL and generates an easy-to-understand trust score.</a:t>
            </a:r>
            <a:endParaRPr lang="en-US" sz="1350" dirty="0"/>
          </a:p>
        </p:txBody>
      </p:sp>
      <p:sp>
        <p:nvSpPr>
          <p:cNvPr id="8" name="Shape 6"/>
          <p:cNvSpPr/>
          <p:nvPr/>
        </p:nvSpPr>
        <p:spPr>
          <a:xfrm>
            <a:off x="548640" y="2622296"/>
            <a:ext cx="11064240" cy="749808"/>
          </a:xfrm>
          <a:prstGeom prst="roundRect">
            <a:avLst>
              <a:gd name="adj" fmla="val 7317"/>
            </a:avLst>
          </a:prstGeom>
          <a:solidFill>
            <a:srgbClr val="FFFFFF"/>
          </a:solidFill>
          <a:ln/>
        </p:spPr>
      </p:sp>
      <p:sp>
        <p:nvSpPr>
          <p:cNvPr id="9" name="Shape 7"/>
          <p:cNvSpPr/>
          <p:nvPr/>
        </p:nvSpPr>
        <p:spPr>
          <a:xfrm>
            <a:off x="777240" y="2786888"/>
            <a:ext cx="420624" cy="420624"/>
          </a:xfrm>
          <a:prstGeom prst="ellipse">
            <a:avLst/>
          </a:prstGeom>
          <a:solidFill>
            <a:srgbClr val="9B7FC7"/>
          </a:solidFill>
          <a:ln/>
        </p:spPr>
      </p:sp>
      <p:sp>
        <p:nvSpPr>
          <p:cNvPr id="10" name="Text 8"/>
          <p:cNvSpPr/>
          <p:nvPr/>
        </p:nvSpPr>
        <p:spPr>
          <a:xfrm>
            <a:off x="777240" y="2786888"/>
            <a:ext cx="420624" cy="420624"/>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417320" y="2622296"/>
            <a:ext cx="9966960" cy="749808"/>
          </a:xfrm>
          <a:prstGeom prst="rect">
            <a:avLst/>
          </a:prstGeom>
          <a:noFill/>
          <a:ln/>
        </p:spPr>
        <p:txBody>
          <a:bodyPr wrap="square" lIns="0" tIns="0" rIns="0" bIns="0" rtlCol="0" anchor="ctr"/>
          <a:lstStyle/>
          <a:p>
            <a:pPr marL="0" indent="0">
              <a:buNone/>
            </a:pPr>
            <a:r>
              <a:rPr lang="en-US" sz="1350" dirty="0">
                <a:solidFill>
                  <a:srgbClr val="3A2C55"/>
                </a:solidFill>
                <a:latin typeface="Calibri" pitchFamily="34" charset="0"/>
                <a:ea typeface="Calibri" pitchFamily="34" charset="-122"/>
                <a:cs typeface="Calibri" pitchFamily="34" charset="-120"/>
              </a:rPr>
              <a:t>Automatically analyze HTTPS status, suspicious URL patterns, and domain information without manual effort.</a:t>
            </a:r>
            <a:endParaRPr lang="en-US" sz="1350" dirty="0"/>
          </a:p>
        </p:txBody>
      </p:sp>
      <p:sp>
        <p:nvSpPr>
          <p:cNvPr id="12" name="Shape 10"/>
          <p:cNvSpPr/>
          <p:nvPr/>
        </p:nvSpPr>
        <p:spPr>
          <a:xfrm>
            <a:off x="548640" y="3481832"/>
            <a:ext cx="11064240" cy="749808"/>
          </a:xfrm>
          <a:prstGeom prst="roundRect">
            <a:avLst>
              <a:gd name="adj" fmla="val 7317"/>
            </a:avLst>
          </a:prstGeom>
          <a:solidFill>
            <a:srgbClr val="F4EFFB"/>
          </a:solidFill>
          <a:ln/>
        </p:spPr>
      </p:sp>
      <p:sp>
        <p:nvSpPr>
          <p:cNvPr id="13" name="Shape 11"/>
          <p:cNvSpPr/>
          <p:nvPr/>
        </p:nvSpPr>
        <p:spPr>
          <a:xfrm>
            <a:off x="777240" y="3646424"/>
            <a:ext cx="420624" cy="420624"/>
          </a:xfrm>
          <a:prstGeom prst="ellipse">
            <a:avLst/>
          </a:prstGeom>
          <a:solidFill>
            <a:srgbClr val="9B7FC7"/>
          </a:solidFill>
          <a:ln/>
        </p:spPr>
      </p:sp>
      <p:sp>
        <p:nvSpPr>
          <p:cNvPr id="14" name="Text 12"/>
          <p:cNvSpPr/>
          <p:nvPr/>
        </p:nvSpPr>
        <p:spPr>
          <a:xfrm>
            <a:off x="777240" y="3646424"/>
            <a:ext cx="420624" cy="420624"/>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417320" y="3481832"/>
            <a:ext cx="9966960" cy="749808"/>
          </a:xfrm>
          <a:prstGeom prst="rect">
            <a:avLst/>
          </a:prstGeom>
          <a:noFill/>
          <a:ln/>
        </p:spPr>
        <p:txBody>
          <a:bodyPr wrap="square" lIns="0" tIns="0" rIns="0" bIns="0" rtlCol="0" anchor="ctr"/>
          <a:lstStyle/>
          <a:p>
            <a:pPr marL="0" indent="0">
              <a:buNone/>
            </a:pPr>
            <a:r>
              <a:rPr lang="en-US" sz="1350" dirty="0">
                <a:solidFill>
                  <a:srgbClr val="3A2C55"/>
                </a:solidFill>
                <a:latin typeface="Calibri" pitchFamily="34" charset="0"/>
                <a:ea typeface="Calibri" pitchFamily="34" charset="-122"/>
                <a:cs typeface="Calibri" pitchFamily="34" charset="-120"/>
              </a:rPr>
              <a:t>Optionally use the Gemini API to add an AI-based layer of content and context analysis for higher accuracy.</a:t>
            </a:r>
            <a:endParaRPr lang="en-US" sz="1350" dirty="0"/>
          </a:p>
        </p:txBody>
      </p:sp>
      <p:sp>
        <p:nvSpPr>
          <p:cNvPr id="16" name="Shape 14"/>
          <p:cNvSpPr/>
          <p:nvPr/>
        </p:nvSpPr>
        <p:spPr>
          <a:xfrm>
            <a:off x="548640" y="4341368"/>
            <a:ext cx="11064240" cy="749808"/>
          </a:xfrm>
          <a:prstGeom prst="roundRect">
            <a:avLst>
              <a:gd name="adj" fmla="val 7317"/>
            </a:avLst>
          </a:prstGeom>
          <a:solidFill>
            <a:srgbClr val="FFFFFF"/>
          </a:solidFill>
          <a:ln/>
        </p:spPr>
      </p:sp>
      <p:sp>
        <p:nvSpPr>
          <p:cNvPr id="17" name="Shape 15"/>
          <p:cNvSpPr/>
          <p:nvPr/>
        </p:nvSpPr>
        <p:spPr>
          <a:xfrm>
            <a:off x="777240" y="4505960"/>
            <a:ext cx="420624" cy="420624"/>
          </a:xfrm>
          <a:prstGeom prst="ellipse">
            <a:avLst/>
          </a:prstGeom>
          <a:solidFill>
            <a:srgbClr val="9B7FC7"/>
          </a:solidFill>
          <a:ln/>
        </p:spPr>
      </p:sp>
      <p:sp>
        <p:nvSpPr>
          <p:cNvPr id="18" name="Text 16"/>
          <p:cNvSpPr/>
          <p:nvPr/>
        </p:nvSpPr>
        <p:spPr>
          <a:xfrm>
            <a:off x="777240" y="4505960"/>
            <a:ext cx="420624" cy="420624"/>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417320" y="4341368"/>
            <a:ext cx="9966960" cy="749808"/>
          </a:xfrm>
          <a:prstGeom prst="rect">
            <a:avLst/>
          </a:prstGeom>
          <a:noFill/>
          <a:ln/>
        </p:spPr>
        <p:txBody>
          <a:bodyPr wrap="square" lIns="0" tIns="0" rIns="0" bIns="0" rtlCol="0" anchor="ctr"/>
          <a:lstStyle/>
          <a:p>
            <a:pPr marL="0" indent="0">
              <a:buNone/>
            </a:pPr>
            <a:r>
              <a:rPr lang="en-US" sz="1350" dirty="0">
                <a:solidFill>
                  <a:srgbClr val="3A2C55"/>
                </a:solidFill>
                <a:latin typeface="Calibri" pitchFamily="34" charset="0"/>
                <a:ea typeface="Calibri" pitchFamily="34" charset="-122"/>
                <a:cs typeface="Calibri" pitchFamily="34" charset="-120"/>
              </a:rPr>
              <a:t>Present results in plain language so non-technical users can make a quick, confident decision.</a:t>
            </a:r>
            <a:endParaRPr lang="en-US" sz="1350" dirty="0"/>
          </a:p>
        </p:txBody>
      </p:sp>
      <p:sp>
        <p:nvSpPr>
          <p:cNvPr id="20" name="Shape 18"/>
          <p:cNvSpPr/>
          <p:nvPr/>
        </p:nvSpPr>
        <p:spPr>
          <a:xfrm>
            <a:off x="548640" y="5200904"/>
            <a:ext cx="11064240" cy="749808"/>
          </a:xfrm>
          <a:prstGeom prst="roundRect">
            <a:avLst>
              <a:gd name="adj" fmla="val 7317"/>
            </a:avLst>
          </a:prstGeom>
          <a:solidFill>
            <a:srgbClr val="F4EFFB"/>
          </a:solidFill>
          <a:ln/>
        </p:spPr>
      </p:sp>
      <p:sp>
        <p:nvSpPr>
          <p:cNvPr id="21" name="Shape 19"/>
          <p:cNvSpPr/>
          <p:nvPr/>
        </p:nvSpPr>
        <p:spPr>
          <a:xfrm>
            <a:off x="777240" y="5365496"/>
            <a:ext cx="420624" cy="420624"/>
          </a:xfrm>
          <a:prstGeom prst="ellipse">
            <a:avLst/>
          </a:prstGeom>
          <a:solidFill>
            <a:srgbClr val="9B7FC7"/>
          </a:solidFill>
          <a:ln/>
        </p:spPr>
      </p:sp>
      <p:sp>
        <p:nvSpPr>
          <p:cNvPr id="22" name="Text 20"/>
          <p:cNvSpPr/>
          <p:nvPr/>
        </p:nvSpPr>
        <p:spPr>
          <a:xfrm>
            <a:off x="777240" y="5365496"/>
            <a:ext cx="420624" cy="420624"/>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417320" y="5200904"/>
            <a:ext cx="9966960" cy="749808"/>
          </a:xfrm>
          <a:prstGeom prst="rect">
            <a:avLst/>
          </a:prstGeom>
          <a:noFill/>
          <a:ln/>
        </p:spPr>
        <p:txBody>
          <a:bodyPr wrap="square" lIns="0" tIns="0" rIns="0" bIns="0" rtlCol="0" anchor="ctr"/>
          <a:lstStyle/>
          <a:p>
            <a:pPr marL="0" indent="0">
              <a:buNone/>
            </a:pPr>
            <a:r>
              <a:rPr lang="en-US" sz="1350" dirty="0">
                <a:solidFill>
                  <a:srgbClr val="3A2C55"/>
                </a:solidFill>
                <a:latin typeface="Calibri" pitchFamily="34" charset="0"/>
                <a:ea typeface="Calibri" pitchFamily="34" charset="-122"/>
                <a:cs typeface="Calibri" pitchFamily="34" charset="-120"/>
              </a:rPr>
              <a:t>Maintain a searchable scan history using MongoDB so users can revisit past results at any time.</a:t>
            </a:r>
            <a:endParaRPr lang="en-US" sz="1350" dirty="0"/>
          </a:p>
        </p:txBody>
      </p:sp>
      <p:sp>
        <p:nvSpPr>
          <p:cNvPr id="24" name="Text 22"/>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6B5B95"/>
                </a:solidFill>
                <a:latin typeface="Calibri" pitchFamily="34" charset="0"/>
                <a:ea typeface="Calibri" pitchFamily="34" charset="-122"/>
                <a:cs typeface="Calibri" pitchFamily="34" charset="-120"/>
              </a:rPr>
              <a:t>AI-Powered Scam Website Detection System</a:t>
            </a:r>
            <a:endParaRPr lang="en-US" sz="1000" dirty="0"/>
          </a:p>
        </p:txBody>
      </p:sp>
      <p:sp>
        <p:nvSpPr>
          <p:cNvPr id="25" name="Text 23"/>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5B9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B7FC7"/>
                </a:solidFill>
                <a:latin typeface="Calibri" pitchFamily="34" charset="0"/>
                <a:ea typeface="Calibri" pitchFamily="34" charset="-122"/>
                <a:cs typeface="Calibri" pitchFamily="34" charset="-120"/>
              </a:rPr>
              <a:t>LITERATURE REVIEW</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200" b="1" dirty="0">
                <a:solidFill>
                  <a:srgbClr val="3A2C55"/>
                </a:solidFill>
                <a:latin typeface="Cambria" pitchFamily="34" charset="0"/>
                <a:ea typeface="Cambria" pitchFamily="34" charset="-122"/>
                <a:cs typeface="Cambria" pitchFamily="34" charset="-120"/>
              </a:rPr>
              <a:t>How Existing Research Approaches This Problem</a:t>
            </a:r>
            <a:endParaRPr lang="en-US" sz="3200" dirty="0"/>
          </a:p>
        </p:txBody>
      </p:sp>
      <p:sp>
        <p:nvSpPr>
          <p:cNvPr id="4" name="Shape 2"/>
          <p:cNvSpPr/>
          <p:nvPr/>
        </p:nvSpPr>
        <p:spPr>
          <a:xfrm>
            <a:off x="548640" y="1920240"/>
            <a:ext cx="11064240" cy="1024128"/>
          </a:xfrm>
          <a:prstGeom prst="roundRect">
            <a:avLst>
              <a:gd name="adj" fmla="val 5357"/>
            </a:avLst>
          </a:prstGeom>
          <a:solidFill>
            <a:srgbClr val="F4EFFB"/>
          </a:solidFill>
          <a:ln/>
        </p:spPr>
      </p:sp>
      <p:sp>
        <p:nvSpPr>
          <p:cNvPr id="5" name="Shape 3"/>
          <p:cNvSpPr/>
          <p:nvPr/>
        </p:nvSpPr>
        <p:spPr>
          <a:xfrm>
            <a:off x="548640" y="1920240"/>
            <a:ext cx="82296" cy="1024128"/>
          </a:xfrm>
          <a:prstGeom prst="rect">
            <a:avLst/>
          </a:prstGeom>
          <a:solidFill>
            <a:srgbClr val="4B2E83"/>
          </a:solidFill>
          <a:ln/>
        </p:spPr>
      </p:sp>
      <p:sp>
        <p:nvSpPr>
          <p:cNvPr id="6" name="Text 4"/>
          <p:cNvSpPr/>
          <p:nvPr/>
        </p:nvSpPr>
        <p:spPr>
          <a:xfrm>
            <a:off x="868680" y="2011680"/>
            <a:ext cx="2743200" cy="822960"/>
          </a:xfrm>
          <a:prstGeom prst="rect">
            <a:avLst/>
          </a:prstGeom>
          <a:noFill/>
          <a:ln/>
        </p:spPr>
        <p:txBody>
          <a:bodyPr wrap="square" lIns="0" tIns="0" rIns="0" bIns="0" rtlCol="0" anchor="ctr"/>
          <a:lstStyle/>
          <a:p>
            <a:pPr marL="0" indent="0">
              <a:lnSpc>
                <a:spcPct val="105000"/>
              </a:lnSpc>
              <a:buNone/>
            </a:pPr>
            <a:r>
              <a:rPr lang="en-US" sz="1300" b="1" dirty="0">
                <a:solidFill>
                  <a:srgbClr val="4B2E83"/>
                </a:solidFill>
                <a:latin typeface="Calibri" pitchFamily="34" charset="0"/>
                <a:ea typeface="Calibri" pitchFamily="34" charset="-122"/>
                <a:cs typeface="Calibri" pitchFamily="34" charset="-120"/>
              </a:rPr>
              <a:t>Blacklist-Based Filtering</a:t>
            </a:r>
            <a:endParaRPr lang="en-US" sz="1300" dirty="0"/>
          </a:p>
        </p:txBody>
      </p:sp>
      <p:sp>
        <p:nvSpPr>
          <p:cNvPr id="7" name="Text 5"/>
          <p:cNvSpPr/>
          <p:nvPr/>
        </p:nvSpPr>
        <p:spPr>
          <a:xfrm>
            <a:off x="3794760" y="2011680"/>
            <a:ext cx="4480560" cy="822960"/>
          </a:xfrm>
          <a:prstGeom prst="rect">
            <a:avLst/>
          </a:prstGeom>
          <a:noFill/>
          <a:ln/>
        </p:spPr>
        <p:txBody>
          <a:bodyPr wrap="square" lIns="0" tIns="0" rIns="0" bIns="0" rtlCol="0" anchor="ctr"/>
          <a:lstStyle/>
          <a:p>
            <a:pPr marL="0" indent="0">
              <a:lnSpc>
                <a:spcPct val="110000"/>
              </a:lnSpc>
              <a:buNone/>
            </a:pPr>
            <a:r>
              <a:rPr lang="en-US" sz="1050" dirty="0">
                <a:solidFill>
                  <a:srgbClr val="4A4160"/>
                </a:solidFill>
                <a:latin typeface="Calibri" pitchFamily="34" charset="0"/>
                <a:ea typeface="Calibri" pitchFamily="34" charset="-122"/>
                <a:cs typeface="Calibri" pitchFamily="34" charset="-120"/>
              </a:rPr>
              <a:t>Services such as Google Safe Browsing and PhishTank maintain databases of known-bad URLs and warn users when they visit a listed site.</a:t>
            </a:r>
            <a:endParaRPr lang="en-US" sz="1050" dirty="0"/>
          </a:p>
        </p:txBody>
      </p:sp>
      <p:sp>
        <p:nvSpPr>
          <p:cNvPr id="8" name="Text 6"/>
          <p:cNvSpPr/>
          <p:nvPr/>
        </p:nvSpPr>
        <p:spPr>
          <a:xfrm>
            <a:off x="8412480" y="2011680"/>
            <a:ext cx="3063240" cy="822960"/>
          </a:xfrm>
          <a:prstGeom prst="rect">
            <a:avLst/>
          </a:prstGeom>
          <a:noFill/>
          <a:ln/>
        </p:spPr>
        <p:txBody>
          <a:bodyPr wrap="square" lIns="0" tIns="0" rIns="0" bIns="0" rtlCol="0" anchor="ctr"/>
          <a:lstStyle/>
          <a:p>
            <a:pPr marL="0" indent="0">
              <a:lnSpc>
                <a:spcPct val="110000"/>
              </a:lnSpc>
              <a:buNone/>
            </a:pPr>
            <a:r>
              <a:rPr lang="en-US" sz="1050" i="1" dirty="0">
                <a:solidFill>
                  <a:srgbClr val="6B5B95"/>
                </a:solidFill>
                <a:latin typeface="Calibri" pitchFamily="34" charset="0"/>
                <a:ea typeface="Calibri" pitchFamily="34" charset="-122"/>
                <a:cs typeface="Calibri" pitchFamily="34" charset="-120"/>
              </a:rPr>
              <a:t>Fast and low-cost, but powerless against brand-new or short-lived scam domains not yet reported.</a:t>
            </a:r>
            <a:endParaRPr lang="en-US" sz="1050" dirty="0"/>
          </a:p>
        </p:txBody>
      </p:sp>
      <p:sp>
        <p:nvSpPr>
          <p:cNvPr id="9" name="Shape 7"/>
          <p:cNvSpPr/>
          <p:nvPr/>
        </p:nvSpPr>
        <p:spPr>
          <a:xfrm>
            <a:off x="548640" y="3054096"/>
            <a:ext cx="11064240" cy="1024128"/>
          </a:xfrm>
          <a:prstGeom prst="roundRect">
            <a:avLst>
              <a:gd name="adj" fmla="val 5357"/>
            </a:avLst>
          </a:prstGeom>
          <a:solidFill>
            <a:srgbClr val="F4EFFB"/>
          </a:solidFill>
          <a:ln/>
        </p:spPr>
      </p:sp>
      <p:sp>
        <p:nvSpPr>
          <p:cNvPr id="10" name="Shape 8"/>
          <p:cNvSpPr/>
          <p:nvPr/>
        </p:nvSpPr>
        <p:spPr>
          <a:xfrm>
            <a:off x="548640" y="3054096"/>
            <a:ext cx="82296" cy="1024128"/>
          </a:xfrm>
          <a:prstGeom prst="rect">
            <a:avLst/>
          </a:prstGeom>
          <a:solidFill>
            <a:srgbClr val="4B2E83"/>
          </a:solidFill>
          <a:ln/>
        </p:spPr>
      </p:sp>
      <p:sp>
        <p:nvSpPr>
          <p:cNvPr id="11" name="Text 9"/>
          <p:cNvSpPr/>
          <p:nvPr/>
        </p:nvSpPr>
        <p:spPr>
          <a:xfrm>
            <a:off x="868680" y="3145536"/>
            <a:ext cx="2743200" cy="822960"/>
          </a:xfrm>
          <a:prstGeom prst="rect">
            <a:avLst/>
          </a:prstGeom>
          <a:noFill/>
          <a:ln/>
        </p:spPr>
        <p:txBody>
          <a:bodyPr wrap="square" lIns="0" tIns="0" rIns="0" bIns="0" rtlCol="0" anchor="ctr"/>
          <a:lstStyle/>
          <a:p>
            <a:pPr marL="0" indent="0">
              <a:lnSpc>
                <a:spcPct val="105000"/>
              </a:lnSpc>
              <a:buNone/>
            </a:pPr>
            <a:r>
              <a:rPr lang="en-US" sz="1300" b="1" dirty="0">
                <a:solidFill>
                  <a:srgbClr val="4B2E83"/>
                </a:solidFill>
                <a:latin typeface="Calibri" pitchFamily="34" charset="0"/>
                <a:ea typeface="Calibri" pitchFamily="34" charset="-122"/>
                <a:cs typeface="Calibri" pitchFamily="34" charset="-120"/>
              </a:rPr>
              <a:t>Heuristic / Rule-Based Detection</a:t>
            </a:r>
            <a:endParaRPr lang="en-US" sz="1300" dirty="0"/>
          </a:p>
        </p:txBody>
      </p:sp>
      <p:sp>
        <p:nvSpPr>
          <p:cNvPr id="12" name="Text 10"/>
          <p:cNvSpPr/>
          <p:nvPr/>
        </p:nvSpPr>
        <p:spPr>
          <a:xfrm>
            <a:off x="3794760" y="3145536"/>
            <a:ext cx="4480560" cy="822960"/>
          </a:xfrm>
          <a:prstGeom prst="rect">
            <a:avLst/>
          </a:prstGeom>
          <a:noFill/>
          <a:ln/>
        </p:spPr>
        <p:txBody>
          <a:bodyPr wrap="square" lIns="0" tIns="0" rIns="0" bIns="0" rtlCol="0" anchor="ctr"/>
          <a:lstStyle/>
          <a:p>
            <a:pPr marL="0" indent="0">
              <a:lnSpc>
                <a:spcPct val="110000"/>
              </a:lnSpc>
              <a:buNone/>
            </a:pPr>
            <a:r>
              <a:rPr lang="en-US" sz="1050" dirty="0">
                <a:solidFill>
                  <a:srgbClr val="4A4160"/>
                </a:solidFill>
                <a:latin typeface="Calibri" pitchFamily="34" charset="0"/>
                <a:ea typeface="Calibri" pitchFamily="34" charset="-122"/>
                <a:cs typeface="Calibri" pitchFamily="34" charset="-120"/>
              </a:rPr>
              <a:t>Checks structural signals — HTTPS presence, domain age, use of IP addresses instead of names, excessive redirects, and misspelled brand names.</a:t>
            </a:r>
            <a:endParaRPr lang="en-US" sz="1050" dirty="0"/>
          </a:p>
        </p:txBody>
      </p:sp>
      <p:sp>
        <p:nvSpPr>
          <p:cNvPr id="13" name="Text 11"/>
          <p:cNvSpPr/>
          <p:nvPr/>
        </p:nvSpPr>
        <p:spPr>
          <a:xfrm>
            <a:off x="8412480" y="3145536"/>
            <a:ext cx="3063240" cy="822960"/>
          </a:xfrm>
          <a:prstGeom prst="rect">
            <a:avLst/>
          </a:prstGeom>
          <a:noFill/>
          <a:ln/>
        </p:spPr>
        <p:txBody>
          <a:bodyPr wrap="square" lIns="0" tIns="0" rIns="0" bIns="0" rtlCol="0" anchor="ctr"/>
          <a:lstStyle/>
          <a:p>
            <a:pPr marL="0" indent="0">
              <a:lnSpc>
                <a:spcPct val="110000"/>
              </a:lnSpc>
              <a:buNone/>
            </a:pPr>
            <a:r>
              <a:rPr lang="en-US" sz="1050" i="1" dirty="0">
                <a:solidFill>
                  <a:srgbClr val="6B5B95"/>
                </a:solidFill>
                <a:latin typeface="Calibri" pitchFamily="34" charset="0"/>
                <a:ea typeface="Calibri" pitchFamily="34" charset="-122"/>
                <a:cs typeface="Calibri" pitchFamily="34" charset="-120"/>
              </a:rPr>
              <a:t>Works without training data, but individual rules can be bypassed and give limited context.</a:t>
            </a:r>
            <a:endParaRPr lang="en-US" sz="1050" dirty="0"/>
          </a:p>
        </p:txBody>
      </p:sp>
      <p:sp>
        <p:nvSpPr>
          <p:cNvPr id="14" name="Shape 12"/>
          <p:cNvSpPr/>
          <p:nvPr/>
        </p:nvSpPr>
        <p:spPr>
          <a:xfrm>
            <a:off x="548640" y="4187952"/>
            <a:ext cx="11064240" cy="1024128"/>
          </a:xfrm>
          <a:prstGeom prst="roundRect">
            <a:avLst>
              <a:gd name="adj" fmla="val 5357"/>
            </a:avLst>
          </a:prstGeom>
          <a:solidFill>
            <a:srgbClr val="F4EFFB"/>
          </a:solidFill>
          <a:ln/>
        </p:spPr>
      </p:sp>
      <p:sp>
        <p:nvSpPr>
          <p:cNvPr id="15" name="Shape 13"/>
          <p:cNvSpPr/>
          <p:nvPr/>
        </p:nvSpPr>
        <p:spPr>
          <a:xfrm>
            <a:off x="548640" y="4187952"/>
            <a:ext cx="82296" cy="1024128"/>
          </a:xfrm>
          <a:prstGeom prst="rect">
            <a:avLst/>
          </a:prstGeom>
          <a:solidFill>
            <a:srgbClr val="4B2E83"/>
          </a:solidFill>
          <a:ln/>
        </p:spPr>
      </p:sp>
      <p:sp>
        <p:nvSpPr>
          <p:cNvPr id="16" name="Text 14"/>
          <p:cNvSpPr/>
          <p:nvPr/>
        </p:nvSpPr>
        <p:spPr>
          <a:xfrm>
            <a:off x="868680" y="4279392"/>
            <a:ext cx="2743200" cy="822960"/>
          </a:xfrm>
          <a:prstGeom prst="rect">
            <a:avLst/>
          </a:prstGeom>
          <a:noFill/>
          <a:ln/>
        </p:spPr>
        <p:txBody>
          <a:bodyPr wrap="square" lIns="0" tIns="0" rIns="0" bIns="0" rtlCol="0" anchor="ctr"/>
          <a:lstStyle/>
          <a:p>
            <a:pPr marL="0" indent="0">
              <a:lnSpc>
                <a:spcPct val="105000"/>
              </a:lnSpc>
              <a:buNone/>
            </a:pPr>
            <a:r>
              <a:rPr lang="en-US" sz="1300" b="1" dirty="0">
                <a:solidFill>
                  <a:srgbClr val="4B2E83"/>
                </a:solidFill>
                <a:latin typeface="Calibri" pitchFamily="34" charset="0"/>
                <a:ea typeface="Calibri" pitchFamily="34" charset="-122"/>
                <a:cs typeface="Calibri" pitchFamily="34" charset="-120"/>
              </a:rPr>
              <a:t>Machine-Learning Classifiers</a:t>
            </a:r>
            <a:endParaRPr lang="en-US" sz="1300" dirty="0"/>
          </a:p>
        </p:txBody>
      </p:sp>
      <p:sp>
        <p:nvSpPr>
          <p:cNvPr id="17" name="Text 15"/>
          <p:cNvSpPr/>
          <p:nvPr/>
        </p:nvSpPr>
        <p:spPr>
          <a:xfrm>
            <a:off x="3794760" y="4279392"/>
            <a:ext cx="4480560" cy="822960"/>
          </a:xfrm>
          <a:prstGeom prst="rect">
            <a:avLst/>
          </a:prstGeom>
          <a:noFill/>
          <a:ln/>
        </p:spPr>
        <p:txBody>
          <a:bodyPr wrap="square" lIns="0" tIns="0" rIns="0" bIns="0" rtlCol="0" anchor="ctr"/>
          <a:lstStyle/>
          <a:p>
            <a:pPr marL="0" indent="0">
              <a:lnSpc>
                <a:spcPct val="110000"/>
              </a:lnSpc>
              <a:buNone/>
            </a:pPr>
            <a:r>
              <a:rPr lang="en-US" sz="1050" dirty="0">
                <a:solidFill>
                  <a:srgbClr val="4A4160"/>
                </a:solidFill>
                <a:latin typeface="Calibri" pitchFamily="34" charset="0"/>
                <a:ea typeface="Calibri" pitchFamily="34" charset="-122"/>
                <a:cs typeface="Calibri" pitchFamily="34" charset="-120"/>
              </a:rPr>
              <a:t>Models trained on large phishing datasets learn patterns in URL text, page structure, and metadata to classify sites automatically.</a:t>
            </a:r>
            <a:endParaRPr lang="en-US" sz="1050" dirty="0"/>
          </a:p>
        </p:txBody>
      </p:sp>
      <p:sp>
        <p:nvSpPr>
          <p:cNvPr id="18" name="Text 16"/>
          <p:cNvSpPr/>
          <p:nvPr/>
        </p:nvSpPr>
        <p:spPr>
          <a:xfrm>
            <a:off x="8412480" y="4279392"/>
            <a:ext cx="3063240" cy="822960"/>
          </a:xfrm>
          <a:prstGeom prst="rect">
            <a:avLst/>
          </a:prstGeom>
          <a:noFill/>
          <a:ln/>
        </p:spPr>
        <p:txBody>
          <a:bodyPr wrap="square" lIns="0" tIns="0" rIns="0" bIns="0" rtlCol="0" anchor="ctr"/>
          <a:lstStyle/>
          <a:p>
            <a:pPr marL="0" indent="0">
              <a:lnSpc>
                <a:spcPct val="110000"/>
              </a:lnSpc>
              <a:buNone/>
            </a:pPr>
            <a:r>
              <a:rPr lang="en-US" sz="1050" i="1" dirty="0">
                <a:solidFill>
                  <a:srgbClr val="6B5B95"/>
                </a:solidFill>
                <a:latin typeface="Calibri" pitchFamily="34" charset="0"/>
                <a:ea typeface="Calibri" pitchFamily="34" charset="-122"/>
                <a:cs typeface="Calibri" pitchFamily="34" charset="-120"/>
              </a:rPr>
              <a:t>Higher accuracy but needs continual retraining and large labelled datasets to stay effective.</a:t>
            </a:r>
            <a:endParaRPr lang="en-US" sz="1050" dirty="0"/>
          </a:p>
        </p:txBody>
      </p:sp>
      <p:sp>
        <p:nvSpPr>
          <p:cNvPr id="19" name="Shape 17"/>
          <p:cNvSpPr/>
          <p:nvPr/>
        </p:nvSpPr>
        <p:spPr>
          <a:xfrm>
            <a:off x="548640" y="5321808"/>
            <a:ext cx="11064240" cy="1024128"/>
          </a:xfrm>
          <a:prstGeom prst="roundRect">
            <a:avLst>
              <a:gd name="adj" fmla="val 5357"/>
            </a:avLst>
          </a:prstGeom>
          <a:solidFill>
            <a:srgbClr val="F4EFFB"/>
          </a:solidFill>
          <a:ln/>
        </p:spPr>
      </p:sp>
      <p:sp>
        <p:nvSpPr>
          <p:cNvPr id="20" name="Shape 18"/>
          <p:cNvSpPr/>
          <p:nvPr/>
        </p:nvSpPr>
        <p:spPr>
          <a:xfrm>
            <a:off x="548640" y="5321808"/>
            <a:ext cx="82296" cy="1024128"/>
          </a:xfrm>
          <a:prstGeom prst="rect">
            <a:avLst/>
          </a:prstGeom>
          <a:solidFill>
            <a:srgbClr val="4B2E83"/>
          </a:solidFill>
          <a:ln/>
        </p:spPr>
      </p:sp>
      <p:sp>
        <p:nvSpPr>
          <p:cNvPr id="21" name="Text 19"/>
          <p:cNvSpPr/>
          <p:nvPr/>
        </p:nvSpPr>
        <p:spPr>
          <a:xfrm>
            <a:off x="868680" y="5413248"/>
            <a:ext cx="2743200" cy="822960"/>
          </a:xfrm>
          <a:prstGeom prst="rect">
            <a:avLst/>
          </a:prstGeom>
          <a:noFill/>
          <a:ln/>
        </p:spPr>
        <p:txBody>
          <a:bodyPr wrap="square" lIns="0" tIns="0" rIns="0" bIns="0" rtlCol="0" anchor="ctr"/>
          <a:lstStyle/>
          <a:p>
            <a:pPr marL="0" indent="0">
              <a:lnSpc>
                <a:spcPct val="105000"/>
              </a:lnSpc>
              <a:buNone/>
            </a:pPr>
            <a:r>
              <a:rPr lang="en-US" sz="1300" b="1" dirty="0">
                <a:solidFill>
                  <a:srgbClr val="4B2E83"/>
                </a:solidFill>
                <a:latin typeface="Calibri" pitchFamily="34" charset="0"/>
                <a:ea typeface="Calibri" pitchFamily="34" charset="-122"/>
                <a:cs typeface="Calibri" pitchFamily="34" charset="-120"/>
              </a:rPr>
              <a:t>Browser Extensions &amp; Plugins</a:t>
            </a:r>
            <a:endParaRPr lang="en-US" sz="1300" dirty="0"/>
          </a:p>
        </p:txBody>
      </p:sp>
      <p:sp>
        <p:nvSpPr>
          <p:cNvPr id="22" name="Text 20"/>
          <p:cNvSpPr/>
          <p:nvPr/>
        </p:nvSpPr>
        <p:spPr>
          <a:xfrm>
            <a:off x="3794760" y="5413248"/>
            <a:ext cx="4480560" cy="822960"/>
          </a:xfrm>
          <a:prstGeom prst="rect">
            <a:avLst/>
          </a:prstGeom>
          <a:noFill/>
          <a:ln/>
        </p:spPr>
        <p:txBody>
          <a:bodyPr wrap="square" lIns="0" tIns="0" rIns="0" bIns="0" rtlCol="0" anchor="ctr"/>
          <a:lstStyle/>
          <a:p>
            <a:pPr marL="0" indent="0">
              <a:lnSpc>
                <a:spcPct val="110000"/>
              </a:lnSpc>
              <a:buNone/>
            </a:pPr>
            <a:r>
              <a:rPr lang="en-US" sz="1050" dirty="0">
                <a:solidFill>
                  <a:srgbClr val="4A4160"/>
                </a:solidFill>
                <a:latin typeface="Calibri" pitchFamily="34" charset="0"/>
                <a:ea typeface="Calibri" pitchFamily="34" charset="-122"/>
                <a:cs typeface="Calibri" pitchFamily="34" charset="-120"/>
              </a:rPr>
              <a:t>Client-side tools that scan pages in real time as the user browses, often combining several of the techniques above.</a:t>
            </a:r>
            <a:endParaRPr lang="en-US" sz="1050" dirty="0"/>
          </a:p>
        </p:txBody>
      </p:sp>
      <p:sp>
        <p:nvSpPr>
          <p:cNvPr id="23" name="Text 21"/>
          <p:cNvSpPr/>
          <p:nvPr/>
        </p:nvSpPr>
        <p:spPr>
          <a:xfrm>
            <a:off x="8412480" y="5413248"/>
            <a:ext cx="3063240" cy="822960"/>
          </a:xfrm>
          <a:prstGeom prst="rect">
            <a:avLst/>
          </a:prstGeom>
          <a:noFill/>
          <a:ln/>
        </p:spPr>
        <p:txBody>
          <a:bodyPr wrap="square" lIns="0" tIns="0" rIns="0" bIns="0" rtlCol="0" anchor="ctr"/>
          <a:lstStyle/>
          <a:p>
            <a:pPr marL="0" indent="0">
              <a:lnSpc>
                <a:spcPct val="110000"/>
              </a:lnSpc>
              <a:buNone/>
            </a:pPr>
            <a:r>
              <a:rPr lang="en-US" sz="1050" i="1" dirty="0">
                <a:solidFill>
                  <a:srgbClr val="6B5B95"/>
                </a:solidFill>
                <a:latin typeface="Calibri" pitchFamily="34" charset="0"/>
                <a:ea typeface="Calibri" pitchFamily="34" charset="-122"/>
                <a:cs typeface="Calibri" pitchFamily="34" charset="-120"/>
              </a:rPr>
              <a:t>Convenient, but adoption is low since users must actively install and trust a third-party extension.</a:t>
            </a:r>
            <a:endParaRPr lang="en-US" sz="1050" dirty="0"/>
          </a:p>
        </p:txBody>
      </p:sp>
      <p:sp>
        <p:nvSpPr>
          <p:cNvPr id="24" name="Text 22"/>
          <p:cNvSpPr/>
          <p:nvPr/>
        </p:nvSpPr>
        <p:spPr>
          <a:xfrm>
            <a:off x="868680" y="1664208"/>
            <a:ext cx="2743200" cy="228600"/>
          </a:xfrm>
          <a:prstGeom prst="rect">
            <a:avLst/>
          </a:prstGeom>
          <a:noFill/>
          <a:ln/>
        </p:spPr>
        <p:txBody>
          <a:bodyPr wrap="square" rtlCol="0" anchor="ctr"/>
          <a:lstStyle/>
          <a:p>
            <a:pPr marL="0" indent="0">
              <a:buNone/>
            </a:pPr>
            <a:r>
              <a:rPr lang="en-US" sz="900" b="1" kern="0" spc="100" dirty="0">
                <a:solidFill>
                  <a:srgbClr val="9B7FC7"/>
                </a:solidFill>
                <a:latin typeface="Calibri" pitchFamily="34" charset="0"/>
                <a:ea typeface="Calibri" pitchFamily="34" charset="-122"/>
                <a:cs typeface="Calibri" pitchFamily="34" charset="-120"/>
              </a:rPr>
              <a:t>APPROACH</a:t>
            </a:r>
            <a:endParaRPr lang="en-US" sz="900" dirty="0"/>
          </a:p>
        </p:txBody>
      </p:sp>
      <p:sp>
        <p:nvSpPr>
          <p:cNvPr id="25" name="Text 23"/>
          <p:cNvSpPr/>
          <p:nvPr/>
        </p:nvSpPr>
        <p:spPr>
          <a:xfrm>
            <a:off x="3794760" y="1664208"/>
            <a:ext cx="4480560" cy="228600"/>
          </a:xfrm>
          <a:prstGeom prst="rect">
            <a:avLst/>
          </a:prstGeom>
          <a:noFill/>
          <a:ln/>
        </p:spPr>
        <p:txBody>
          <a:bodyPr wrap="square" rtlCol="0" anchor="ctr"/>
          <a:lstStyle/>
          <a:p>
            <a:pPr marL="0" indent="0">
              <a:buNone/>
            </a:pPr>
            <a:r>
              <a:rPr lang="en-US" sz="900" b="1" kern="0" spc="100" dirty="0">
                <a:solidFill>
                  <a:srgbClr val="9B7FC7"/>
                </a:solidFill>
                <a:latin typeface="Calibri" pitchFamily="34" charset="0"/>
                <a:ea typeface="Calibri" pitchFamily="34" charset="-122"/>
                <a:cs typeface="Calibri" pitchFamily="34" charset="-120"/>
              </a:rPr>
              <a:t>DESCRIPTION</a:t>
            </a:r>
            <a:endParaRPr lang="en-US" sz="900" dirty="0"/>
          </a:p>
        </p:txBody>
      </p:sp>
      <p:sp>
        <p:nvSpPr>
          <p:cNvPr id="26" name="Text 24"/>
          <p:cNvSpPr/>
          <p:nvPr/>
        </p:nvSpPr>
        <p:spPr>
          <a:xfrm>
            <a:off x="8412480" y="1664208"/>
            <a:ext cx="3063240" cy="228600"/>
          </a:xfrm>
          <a:prstGeom prst="rect">
            <a:avLst/>
          </a:prstGeom>
          <a:noFill/>
          <a:ln/>
        </p:spPr>
        <p:txBody>
          <a:bodyPr wrap="square" rtlCol="0" anchor="ctr"/>
          <a:lstStyle/>
          <a:p>
            <a:pPr marL="0" indent="0">
              <a:buNone/>
            </a:pPr>
            <a:r>
              <a:rPr lang="en-US" sz="900" b="1" kern="0" spc="100" dirty="0">
                <a:solidFill>
                  <a:srgbClr val="9B7FC7"/>
                </a:solidFill>
                <a:latin typeface="Calibri" pitchFamily="34" charset="0"/>
                <a:ea typeface="Calibri" pitchFamily="34" charset="-122"/>
                <a:cs typeface="Calibri" pitchFamily="34" charset="-120"/>
              </a:rPr>
              <a:t>LIMITATION</a:t>
            </a:r>
            <a:endParaRPr lang="en-US" sz="900" dirty="0"/>
          </a:p>
        </p:txBody>
      </p:sp>
      <p:sp>
        <p:nvSpPr>
          <p:cNvPr id="27" name="Text 2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6B5B95"/>
                </a:solidFill>
                <a:latin typeface="Calibri" pitchFamily="34" charset="0"/>
                <a:ea typeface="Calibri" pitchFamily="34" charset="-122"/>
                <a:cs typeface="Calibri" pitchFamily="34" charset="-120"/>
              </a:rPr>
              <a:t>AI-Powered Scam Website Detection System</a:t>
            </a:r>
            <a:endParaRPr lang="en-US" sz="1000" dirty="0"/>
          </a:p>
        </p:txBody>
      </p:sp>
      <p:sp>
        <p:nvSpPr>
          <p:cNvPr id="28" name="Text 2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5B9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B7FC7"/>
                </a:solidFill>
                <a:latin typeface="Calibri" pitchFamily="34" charset="0"/>
                <a:ea typeface="Calibri" pitchFamily="34" charset="-122"/>
                <a:cs typeface="Calibri" pitchFamily="34" charset="-120"/>
              </a:rPr>
              <a:t>EXISTING SYSTEM</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200" b="1" dirty="0">
                <a:solidFill>
                  <a:srgbClr val="3A2C55"/>
                </a:solidFill>
                <a:latin typeface="Cambria" pitchFamily="34" charset="0"/>
                <a:ea typeface="Cambria" pitchFamily="34" charset="-122"/>
                <a:cs typeface="Cambria" pitchFamily="34" charset="-120"/>
              </a:rPr>
              <a:t>Limitations of Current Solutions</a:t>
            </a:r>
            <a:endParaRPr lang="en-US" sz="3200" dirty="0"/>
          </a:p>
        </p:txBody>
      </p:sp>
      <p:sp>
        <p:nvSpPr>
          <p:cNvPr id="4" name="Shape 2"/>
          <p:cNvSpPr/>
          <p:nvPr/>
        </p:nvSpPr>
        <p:spPr>
          <a:xfrm>
            <a:off x="548640" y="1965960"/>
            <a:ext cx="11064240" cy="566928"/>
          </a:xfrm>
          <a:prstGeom prst="roundRect">
            <a:avLst>
              <a:gd name="adj" fmla="val 9677"/>
            </a:avLst>
          </a:prstGeom>
          <a:solidFill>
            <a:srgbClr val="4B2E83"/>
          </a:solidFill>
          <a:ln/>
        </p:spPr>
      </p:sp>
      <p:pic>
        <p:nvPicPr>
          <p:cNvPr id="5" name="Image 0" descr="icons/alertoctagon_white.png"/>
          <p:cNvPicPr>
            <a:picLocks noChangeAspect="1"/>
          </p:cNvPicPr>
          <p:nvPr/>
        </p:nvPicPr>
        <p:blipFill>
          <a:blip r:embed="rId3"/>
          <a:stretch>
            <a:fillRect/>
          </a:stretch>
        </p:blipFill>
        <p:spPr>
          <a:xfrm>
            <a:off x="777240" y="2084832"/>
            <a:ext cx="329184" cy="329184"/>
          </a:xfrm>
          <a:prstGeom prst="rect">
            <a:avLst/>
          </a:prstGeom>
        </p:spPr>
      </p:pic>
      <p:sp>
        <p:nvSpPr>
          <p:cNvPr id="6" name="Text 3"/>
          <p:cNvSpPr/>
          <p:nvPr/>
        </p:nvSpPr>
        <p:spPr>
          <a:xfrm>
            <a:off x="1234440" y="1965960"/>
            <a:ext cx="10149840" cy="56692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Most current tools rely on a single technique and stop short of a real-time, user-friendly score</a:t>
            </a:r>
            <a:endParaRPr lang="en-US" sz="1350" dirty="0"/>
          </a:p>
        </p:txBody>
      </p:sp>
      <p:sp>
        <p:nvSpPr>
          <p:cNvPr id="7" name="Shape 4"/>
          <p:cNvSpPr/>
          <p:nvPr/>
        </p:nvSpPr>
        <p:spPr>
          <a:xfrm>
            <a:off x="548640" y="2788920"/>
            <a:ext cx="5394960" cy="1234440"/>
          </a:xfrm>
          <a:prstGeom prst="roundRect">
            <a:avLst>
              <a:gd name="adj" fmla="val 5926"/>
            </a:avLst>
          </a:prstGeom>
          <a:solidFill>
            <a:srgbClr val="F4EFFB"/>
          </a:solidFill>
          <a:ln/>
        </p:spPr>
      </p:sp>
      <p:sp>
        <p:nvSpPr>
          <p:cNvPr id="8" name="Shape 5"/>
          <p:cNvSpPr/>
          <p:nvPr/>
        </p:nvSpPr>
        <p:spPr>
          <a:xfrm>
            <a:off x="777240" y="3017520"/>
            <a:ext cx="457200" cy="457200"/>
          </a:xfrm>
          <a:prstGeom prst="ellipse">
            <a:avLst/>
          </a:prstGeom>
          <a:solidFill>
            <a:srgbClr val="FFFFFF"/>
          </a:solidFill>
          <a:ln w="19050">
            <a:solidFill>
              <a:srgbClr val="4B2E83"/>
            </a:solidFill>
            <a:prstDash val="solid"/>
          </a:ln>
        </p:spPr>
      </p:sp>
      <p:pic>
        <p:nvPicPr>
          <p:cNvPr id="9" name="Image 1" descr="icons/x_plum.png"/>
          <p:cNvPicPr>
            <a:picLocks noChangeAspect="1"/>
          </p:cNvPicPr>
          <p:nvPr/>
        </p:nvPicPr>
        <p:blipFill>
          <a:blip r:embed="rId4"/>
          <a:stretch>
            <a:fillRect/>
          </a:stretch>
        </p:blipFill>
        <p:spPr>
          <a:xfrm>
            <a:off x="896112" y="3136392"/>
            <a:ext cx="219456" cy="219456"/>
          </a:xfrm>
          <a:prstGeom prst="rect">
            <a:avLst/>
          </a:prstGeom>
        </p:spPr>
      </p:pic>
      <p:sp>
        <p:nvSpPr>
          <p:cNvPr id="10" name="Text 6"/>
          <p:cNvSpPr/>
          <p:nvPr/>
        </p:nvSpPr>
        <p:spPr>
          <a:xfrm>
            <a:off x="1417320" y="2926080"/>
            <a:ext cx="4343400" cy="320040"/>
          </a:xfrm>
          <a:prstGeom prst="rect">
            <a:avLst/>
          </a:prstGeom>
          <a:noFill/>
          <a:ln/>
        </p:spPr>
        <p:txBody>
          <a:bodyPr wrap="square" lIns="0" tIns="0" rIns="0" bIns="0" rtlCol="0" anchor="ctr"/>
          <a:lstStyle/>
          <a:p>
            <a:pPr marL="0" indent="0">
              <a:buNone/>
            </a:pPr>
            <a:r>
              <a:rPr lang="en-US" sz="1300" b="1" dirty="0">
                <a:solidFill>
                  <a:srgbClr val="3A2C55"/>
                </a:solidFill>
                <a:latin typeface="Calibri" pitchFamily="34" charset="0"/>
                <a:ea typeface="Calibri" pitchFamily="34" charset="-122"/>
                <a:cs typeface="Calibri" pitchFamily="34" charset="-120"/>
              </a:rPr>
              <a:t>Browser-only warnings</a:t>
            </a:r>
            <a:endParaRPr lang="en-US" sz="1300" dirty="0"/>
          </a:p>
        </p:txBody>
      </p:sp>
      <p:sp>
        <p:nvSpPr>
          <p:cNvPr id="11" name="Text 7"/>
          <p:cNvSpPr/>
          <p:nvPr/>
        </p:nvSpPr>
        <p:spPr>
          <a:xfrm>
            <a:off x="1417320" y="3246120"/>
            <a:ext cx="4389120" cy="685800"/>
          </a:xfrm>
          <a:prstGeom prst="rect">
            <a:avLst/>
          </a:prstGeom>
          <a:noFill/>
          <a:ln/>
        </p:spPr>
        <p:txBody>
          <a:bodyPr wrap="square" lIns="0" tIns="0" rIns="0" bIns="0" rtlCol="0" anchor="t"/>
          <a:lstStyle/>
          <a:p>
            <a:pPr marL="0" indent="0">
              <a:lnSpc>
                <a:spcPct val="110000"/>
              </a:lnSpc>
              <a:buNone/>
            </a:pPr>
            <a:r>
              <a:rPr lang="en-US" sz="1050" dirty="0">
                <a:solidFill>
                  <a:srgbClr val="4A4160"/>
                </a:solidFill>
                <a:latin typeface="Calibri" pitchFamily="34" charset="0"/>
                <a:ea typeface="Calibri" pitchFamily="34" charset="-122"/>
                <a:cs typeface="Calibri" pitchFamily="34" charset="-120"/>
              </a:rPr>
              <a:t>Built-in browser alerts fire only for sites already on a known blacklist — new scam pages slip through.</a:t>
            </a:r>
            <a:endParaRPr lang="en-US" sz="1050" dirty="0"/>
          </a:p>
        </p:txBody>
      </p:sp>
      <p:sp>
        <p:nvSpPr>
          <p:cNvPr id="12" name="Shape 8"/>
          <p:cNvSpPr/>
          <p:nvPr/>
        </p:nvSpPr>
        <p:spPr>
          <a:xfrm>
            <a:off x="6263640" y="2788920"/>
            <a:ext cx="5394960" cy="1234440"/>
          </a:xfrm>
          <a:prstGeom prst="roundRect">
            <a:avLst>
              <a:gd name="adj" fmla="val 5926"/>
            </a:avLst>
          </a:prstGeom>
          <a:solidFill>
            <a:srgbClr val="F4EFFB"/>
          </a:solidFill>
          <a:ln/>
        </p:spPr>
      </p:sp>
      <p:sp>
        <p:nvSpPr>
          <p:cNvPr id="13" name="Shape 9"/>
          <p:cNvSpPr/>
          <p:nvPr/>
        </p:nvSpPr>
        <p:spPr>
          <a:xfrm>
            <a:off x="6492240" y="3017520"/>
            <a:ext cx="457200" cy="457200"/>
          </a:xfrm>
          <a:prstGeom prst="ellipse">
            <a:avLst/>
          </a:prstGeom>
          <a:solidFill>
            <a:srgbClr val="FFFFFF"/>
          </a:solidFill>
          <a:ln w="19050">
            <a:solidFill>
              <a:srgbClr val="4B2E83"/>
            </a:solidFill>
            <a:prstDash val="solid"/>
          </a:ln>
        </p:spPr>
      </p:sp>
      <p:pic>
        <p:nvPicPr>
          <p:cNvPr id="14" name="Image 2" descr="icons/x_plum.png"/>
          <p:cNvPicPr>
            <a:picLocks noChangeAspect="1"/>
          </p:cNvPicPr>
          <p:nvPr/>
        </p:nvPicPr>
        <p:blipFill>
          <a:blip r:embed="rId4"/>
          <a:stretch>
            <a:fillRect/>
          </a:stretch>
        </p:blipFill>
        <p:spPr>
          <a:xfrm>
            <a:off x="6611112" y="3136392"/>
            <a:ext cx="219456" cy="219456"/>
          </a:xfrm>
          <a:prstGeom prst="rect">
            <a:avLst/>
          </a:prstGeom>
        </p:spPr>
      </p:pic>
      <p:sp>
        <p:nvSpPr>
          <p:cNvPr id="15" name="Text 10"/>
          <p:cNvSpPr/>
          <p:nvPr/>
        </p:nvSpPr>
        <p:spPr>
          <a:xfrm>
            <a:off x="7132320" y="2926080"/>
            <a:ext cx="4343400" cy="320040"/>
          </a:xfrm>
          <a:prstGeom prst="rect">
            <a:avLst/>
          </a:prstGeom>
          <a:noFill/>
          <a:ln/>
        </p:spPr>
        <p:txBody>
          <a:bodyPr wrap="square" lIns="0" tIns="0" rIns="0" bIns="0" rtlCol="0" anchor="ctr"/>
          <a:lstStyle/>
          <a:p>
            <a:pPr marL="0" indent="0">
              <a:buNone/>
            </a:pPr>
            <a:r>
              <a:rPr lang="en-US" sz="1300" b="1" dirty="0">
                <a:solidFill>
                  <a:srgbClr val="3A2C55"/>
                </a:solidFill>
                <a:latin typeface="Calibri" pitchFamily="34" charset="0"/>
                <a:ea typeface="Calibri" pitchFamily="34" charset="-122"/>
                <a:cs typeface="Calibri" pitchFamily="34" charset="-120"/>
              </a:rPr>
              <a:t>No unified score</a:t>
            </a:r>
            <a:endParaRPr lang="en-US" sz="1300" dirty="0"/>
          </a:p>
        </p:txBody>
      </p:sp>
      <p:sp>
        <p:nvSpPr>
          <p:cNvPr id="16" name="Text 11"/>
          <p:cNvSpPr/>
          <p:nvPr/>
        </p:nvSpPr>
        <p:spPr>
          <a:xfrm>
            <a:off x="7132320" y="3246120"/>
            <a:ext cx="4389120" cy="685800"/>
          </a:xfrm>
          <a:prstGeom prst="rect">
            <a:avLst/>
          </a:prstGeom>
          <a:noFill/>
          <a:ln/>
        </p:spPr>
        <p:txBody>
          <a:bodyPr wrap="square" lIns="0" tIns="0" rIns="0" bIns="0" rtlCol="0" anchor="t"/>
          <a:lstStyle/>
          <a:p>
            <a:pPr marL="0" indent="0">
              <a:lnSpc>
                <a:spcPct val="110000"/>
              </a:lnSpc>
              <a:buNone/>
            </a:pPr>
            <a:r>
              <a:rPr lang="en-US" sz="1050" dirty="0">
                <a:solidFill>
                  <a:srgbClr val="4A4160"/>
                </a:solidFill>
                <a:latin typeface="Calibri" pitchFamily="34" charset="0"/>
                <a:ea typeface="Calibri" pitchFamily="34" charset="-122"/>
                <a:cs typeface="Calibri" pitchFamily="34" charset="-120"/>
              </a:rPr>
              <a:t>Users see raw technical flags (certificate warnings, mixed content) with no single, easy number to act on.</a:t>
            </a:r>
            <a:endParaRPr lang="en-US" sz="1050" dirty="0"/>
          </a:p>
        </p:txBody>
      </p:sp>
      <p:sp>
        <p:nvSpPr>
          <p:cNvPr id="17" name="Shape 12"/>
          <p:cNvSpPr/>
          <p:nvPr/>
        </p:nvSpPr>
        <p:spPr>
          <a:xfrm>
            <a:off x="548640" y="4160520"/>
            <a:ext cx="5394960" cy="1234440"/>
          </a:xfrm>
          <a:prstGeom prst="roundRect">
            <a:avLst>
              <a:gd name="adj" fmla="val 5926"/>
            </a:avLst>
          </a:prstGeom>
          <a:solidFill>
            <a:srgbClr val="F4EFFB"/>
          </a:solidFill>
          <a:ln/>
        </p:spPr>
      </p:sp>
      <p:sp>
        <p:nvSpPr>
          <p:cNvPr id="18" name="Shape 13"/>
          <p:cNvSpPr/>
          <p:nvPr/>
        </p:nvSpPr>
        <p:spPr>
          <a:xfrm>
            <a:off x="777240" y="4389120"/>
            <a:ext cx="457200" cy="457200"/>
          </a:xfrm>
          <a:prstGeom prst="ellipse">
            <a:avLst/>
          </a:prstGeom>
          <a:solidFill>
            <a:srgbClr val="FFFFFF"/>
          </a:solidFill>
          <a:ln w="19050">
            <a:solidFill>
              <a:srgbClr val="4B2E83"/>
            </a:solidFill>
            <a:prstDash val="solid"/>
          </a:ln>
        </p:spPr>
      </p:sp>
      <p:pic>
        <p:nvPicPr>
          <p:cNvPr id="19" name="Image 3" descr="icons/x_plum.png"/>
          <p:cNvPicPr>
            <a:picLocks noChangeAspect="1"/>
          </p:cNvPicPr>
          <p:nvPr/>
        </p:nvPicPr>
        <p:blipFill>
          <a:blip r:embed="rId4"/>
          <a:stretch>
            <a:fillRect/>
          </a:stretch>
        </p:blipFill>
        <p:spPr>
          <a:xfrm>
            <a:off x="896112" y="4507992"/>
            <a:ext cx="219456" cy="219456"/>
          </a:xfrm>
          <a:prstGeom prst="rect">
            <a:avLst/>
          </a:prstGeom>
        </p:spPr>
      </p:pic>
      <p:sp>
        <p:nvSpPr>
          <p:cNvPr id="20" name="Text 14"/>
          <p:cNvSpPr/>
          <p:nvPr/>
        </p:nvSpPr>
        <p:spPr>
          <a:xfrm>
            <a:off x="1417320" y="4297680"/>
            <a:ext cx="4343400" cy="320040"/>
          </a:xfrm>
          <a:prstGeom prst="rect">
            <a:avLst/>
          </a:prstGeom>
          <a:noFill/>
          <a:ln/>
        </p:spPr>
        <p:txBody>
          <a:bodyPr wrap="square" lIns="0" tIns="0" rIns="0" bIns="0" rtlCol="0" anchor="ctr"/>
          <a:lstStyle/>
          <a:p>
            <a:pPr marL="0" indent="0">
              <a:buNone/>
            </a:pPr>
            <a:r>
              <a:rPr lang="en-US" sz="1300" b="1" dirty="0">
                <a:solidFill>
                  <a:srgbClr val="3A2C55"/>
                </a:solidFill>
                <a:latin typeface="Calibri" pitchFamily="34" charset="0"/>
                <a:ea typeface="Calibri" pitchFamily="34" charset="-122"/>
                <a:cs typeface="Calibri" pitchFamily="34" charset="-120"/>
              </a:rPr>
              <a:t>No history tracking</a:t>
            </a:r>
            <a:endParaRPr lang="en-US" sz="1300" dirty="0"/>
          </a:p>
        </p:txBody>
      </p:sp>
      <p:sp>
        <p:nvSpPr>
          <p:cNvPr id="21" name="Text 15"/>
          <p:cNvSpPr/>
          <p:nvPr/>
        </p:nvSpPr>
        <p:spPr>
          <a:xfrm>
            <a:off x="1417320" y="4617720"/>
            <a:ext cx="4389120" cy="685800"/>
          </a:xfrm>
          <a:prstGeom prst="rect">
            <a:avLst/>
          </a:prstGeom>
          <a:noFill/>
          <a:ln/>
        </p:spPr>
        <p:txBody>
          <a:bodyPr wrap="square" lIns="0" tIns="0" rIns="0" bIns="0" rtlCol="0" anchor="t"/>
          <a:lstStyle/>
          <a:p>
            <a:pPr marL="0" indent="0">
              <a:lnSpc>
                <a:spcPct val="110000"/>
              </a:lnSpc>
              <a:buNone/>
            </a:pPr>
            <a:r>
              <a:rPr lang="en-US" sz="1050" dirty="0">
                <a:solidFill>
                  <a:srgbClr val="4A4160"/>
                </a:solidFill>
                <a:latin typeface="Calibri" pitchFamily="34" charset="0"/>
                <a:ea typeface="Calibri" pitchFamily="34" charset="-122"/>
                <a:cs typeface="Calibri" pitchFamily="34" charset="-120"/>
              </a:rPr>
              <a:t>Most tools check a link once and discard the result, so users cannot review or compare past scans.</a:t>
            </a:r>
            <a:endParaRPr lang="en-US" sz="1050" dirty="0"/>
          </a:p>
        </p:txBody>
      </p:sp>
      <p:sp>
        <p:nvSpPr>
          <p:cNvPr id="22" name="Shape 16"/>
          <p:cNvSpPr/>
          <p:nvPr/>
        </p:nvSpPr>
        <p:spPr>
          <a:xfrm>
            <a:off x="6263640" y="4160520"/>
            <a:ext cx="5394960" cy="1234440"/>
          </a:xfrm>
          <a:prstGeom prst="roundRect">
            <a:avLst>
              <a:gd name="adj" fmla="val 5926"/>
            </a:avLst>
          </a:prstGeom>
          <a:solidFill>
            <a:srgbClr val="F4EFFB"/>
          </a:solidFill>
          <a:ln/>
        </p:spPr>
      </p:sp>
      <p:sp>
        <p:nvSpPr>
          <p:cNvPr id="23" name="Shape 17"/>
          <p:cNvSpPr/>
          <p:nvPr/>
        </p:nvSpPr>
        <p:spPr>
          <a:xfrm>
            <a:off x="6492240" y="4389120"/>
            <a:ext cx="457200" cy="457200"/>
          </a:xfrm>
          <a:prstGeom prst="ellipse">
            <a:avLst/>
          </a:prstGeom>
          <a:solidFill>
            <a:srgbClr val="FFFFFF"/>
          </a:solidFill>
          <a:ln w="19050">
            <a:solidFill>
              <a:srgbClr val="4B2E83"/>
            </a:solidFill>
            <a:prstDash val="solid"/>
          </a:ln>
        </p:spPr>
      </p:sp>
      <p:pic>
        <p:nvPicPr>
          <p:cNvPr id="24" name="Image 4" descr="icons/x_plum.png"/>
          <p:cNvPicPr>
            <a:picLocks noChangeAspect="1"/>
          </p:cNvPicPr>
          <p:nvPr/>
        </p:nvPicPr>
        <p:blipFill>
          <a:blip r:embed="rId4"/>
          <a:stretch>
            <a:fillRect/>
          </a:stretch>
        </p:blipFill>
        <p:spPr>
          <a:xfrm>
            <a:off x="6611112" y="4507992"/>
            <a:ext cx="219456" cy="219456"/>
          </a:xfrm>
          <a:prstGeom prst="rect">
            <a:avLst/>
          </a:prstGeom>
        </p:spPr>
      </p:pic>
      <p:sp>
        <p:nvSpPr>
          <p:cNvPr id="25" name="Text 18"/>
          <p:cNvSpPr/>
          <p:nvPr/>
        </p:nvSpPr>
        <p:spPr>
          <a:xfrm>
            <a:off x="7132320" y="4297680"/>
            <a:ext cx="4343400" cy="320040"/>
          </a:xfrm>
          <a:prstGeom prst="rect">
            <a:avLst/>
          </a:prstGeom>
          <a:noFill/>
          <a:ln/>
        </p:spPr>
        <p:txBody>
          <a:bodyPr wrap="square" lIns="0" tIns="0" rIns="0" bIns="0" rtlCol="0" anchor="ctr"/>
          <a:lstStyle/>
          <a:p>
            <a:pPr marL="0" indent="0">
              <a:buNone/>
            </a:pPr>
            <a:r>
              <a:rPr lang="en-US" sz="1300" b="1" dirty="0">
                <a:solidFill>
                  <a:srgbClr val="3A2C55"/>
                </a:solidFill>
                <a:latin typeface="Calibri" pitchFamily="34" charset="0"/>
                <a:ea typeface="Calibri" pitchFamily="34" charset="-122"/>
                <a:cs typeface="Calibri" pitchFamily="34" charset="-120"/>
              </a:rPr>
              <a:t>Jargon-heavy reports</a:t>
            </a:r>
            <a:endParaRPr lang="en-US" sz="1300" dirty="0"/>
          </a:p>
        </p:txBody>
      </p:sp>
      <p:sp>
        <p:nvSpPr>
          <p:cNvPr id="26" name="Text 19"/>
          <p:cNvSpPr/>
          <p:nvPr/>
        </p:nvSpPr>
        <p:spPr>
          <a:xfrm>
            <a:off x="7132320" y="4617720"/>
            <a:ext cx="4389120" cy="685800"/>
          </a:xfrm>
          <a:prstGeom prst="rect">
            <a:avLst/>
          </a:prstGeom>
          <a:noFill/>
          <a:ln/>
        </p:spPr>
        <p:txBody>
          <a:bodyPr wrap="square" lIns="0" tIns="0" rIns="0" bIns="0" rtlCol="0" anchor="t"/>
          <a:lstStyle/>
          <a:p>
            <a:pPr marL="0" indent="0">
              <a:lnSpc>
                <a:spcPct val="110000"/>
              </a:lnSpc>
              <a:buNone/>
            </a:pPr>
            <a:r>
              <a:rPr lang="en-US" sz="1050" dirty="0">
                <a:solidFill>
                  <a:srgbClr val="4A4160"/>
                </a:solidFill>
                <a:latin typeface="Calibri" pitchFamily="34" charset="0"/>
                <a:ea typeface="Calibri" pitchFamily="34" charset="-122"/>
                <a:cs typeface="Calibri" pitchFamily="34" charset="-120"/>
              </a:rPr>
              <a:t>Security reports are written for technical audiences, leaving everyday users unsure what action to take.</a:t>
            </a:r>
            <a:endParaRPr lang="en-US" sz="1050" dirty="0"/>
          </a:p>
        </p:txBody>
      </p:sp>
      <p:sp>
        <p:nvSpPr>
          <p:cNvPr id="27" name="Text 20"/>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6B5B95"/>
                </a:solidFill>
                <a:latin typeface="Calibri" pitchFamily="34" charset="0"/>
                <a:ea typeface="Calibri" pitchFamily="34" charset="-122"/>
                <a:cs typeface="Calibri" pitchFamily="34" charset="-120"/>
              </a:rPr>
              <a:t>AI-Powered Scam Website Detection System</a:t>
            </a:r>
            <a:endParaRPr lang="en-US" sz="1000" dirty="0"/>
          </a:p>
        </p:txBody>
      </p:sp>
      <p:sp>
        <p:nvSpPr>
          <p:cNvPr id="28" name="Text 21"/>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5B9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B7FC7"/>
                </a:solidFill>
                <a:latin typeface="Calibri" pitchFamily="34" charset="0"/>
                <a:ea typeface="Calibri" pitchFamily="34" charset="-122"/>
                <a:cs typeface="Calibri" pitchFamily="34" charset="-120"/>
              </a:rPr>
              <a:t>PROPOSED SYSTEM</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200" b="1" dirty="0">
                <a:solidFill>
                  <a:srgbClr val="3A2C55"/>
                </a:solidFill>
                <a:latin typeface="Cambria" pitchFamily="34" charset="0"/>
                <a:ea typeface="Cambria" pitchFamily="34" charset="-122"/>
                <a:cs typeface="Cambria" pitchFamily="34" charset="-120"/>
              </a:rPr>
              <a:t>Our Approach &amp; Its Advantages</a:t>
            </a:r>
            <a:endParaRPr lang="en-US" sz="3200" dirty="0"/>
          </a:p>
        </p:txBody>
      </p:sp>
      <p:sp>
        <p:nvSpPr>
          <p:cNvPr id="4" name="Shape 2"/>
          <p:cNvSpPr/>
          <p:nvPr/>
        </p:nvSpPr>
        <p:spPr>
          <a:xfrm>
            <a:off x="548640" y="1965960"/>
            <a:ext cx="5212080" cy="4160520"/>
          </a:xfrm>
          <a:prstGeom prst="roundRect">
            <a:avLst>
              <a:gd name="adj" fmla="val 1758"/>
            </a:avLst>
          </a:prstGeom>
          <a:solidFill>
            <a:srgbClr val="4B2E83"/>
          </a:solidFill>
          <a:ln/>
        </p:spPr>
      </p:sp>
      <p:pic>
        <p:nvPicPr>
          <p:cNvPr id="5" name="Image 0" descr="icons/trendingup_white.png"/>
          <p:cNvPicPr>
            <a:picLocks noChangeAspect="1"/>
          </p:cNvPicPr>
          <p:nvPr/>
        </p:nvPicPr>
        <p:blipFill>
          <a:blip r:embed="rId3"/>
          <a:stretch>
            <a:fillRect/>
          </a:stretch>
        </p:blipFill>
        <p:spPr>
          <a:xfrm>
            <a:off x="868680" y="2240280"/>
            <a:ext cx="457200" cy="457200"/>
          </a:xfrm>
          <a:prstGeom prst="rect">
            <a:avLst/>
          </a:prstGeom>
        </p:spPr>
      </p:pic>
      <p:sp>
        <p:nvSpPr>
          <p:cNvPr id="6" name="Text 3"/>
          <p:cNvSpPr/>
          <p:nvPr/>
        </p:nvSpPr>
        <p:spPr>
          <a:xfrm>
            <a:off x="1463040" y="2286000"/>
            <a:ext cx="4114800" cy="41148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Proposed System</a:t>
            </a:r>
            <a:endParaRPr lang="en-US" sz="1800" dirty="0"/>
          </a:p>
        </p:txBody>
      </p:sp>
      <p:sp>
        <p:nvSpPr>
          <p:cNvPr id="7" name="Text 4"/>
          <p:cNvSpPr/>
          <p:nvPr/>
        </p:nvSpPr>
        <p:spPr>
          <a:xfrm>
            <a:off x="868680" y="2880360"/>
            <a:ext cx="4572000" cy="3108960"/>
          </a:xfrm>
          <a:prstGeom prst="rect">
            <a:avLst/>
          </a:prstGeom>
          <a:noFill/>
          <a:ln/>
        </p:spPr>
        <p:txBody>
          <a:bodyPr wrap="square" rtlCol="0" anchor="t"/>
          <a:lstStyle/>
          <a:p>
            <a:pPr marL="0" indent="0">
              <a:lnSpc>
                <a:spcPct val="125000"/>
              </a:lnSpc>
              <a:buNone/>
            </a:pPr>
            <a:r>
              <a:rPr lang="en-US" sz="1250" dirty="0">
                <a:solidFill>
                  <a:srgbClr val="E7DFF6"/>
                </a:solidFill>
                <a:latin typeface="Calibri" pitchFamily="34" charset="0"/>
                <a:ea typeface="Calibri" pitchFamily="34" charset="-122"/>
                <a:cs typeface="Calibri" pitchFamily="34" charset="-120"/>
              </a:rPr>
              <a:t>A single-page web application where a user pastes a URL and instantly receives a composite trust score. The backend runs automated checks (HTTPS validity, domain information, and suspicious URL patterns), optionally enriches the result with Gemini AI content analysis, and stores every scan in MongoDB for future reference — turning scattered technical signals into one clear, actionable answer.</a:t>
            </a:r>
            <a:endParaRPr lang="en-US" sz="1250" dirty="0"/>
          </a:p>
        </p:txBody>
      </p:sp>
      <p:pic>
        <p:nvPicPr>
          <p:cNvPr id="8" name="Image 1" descr="icons/checkcircle_lavender.png"/>
          <p:cNvPicPr>
            <a:picLocks noChangeAspect="1"/>
          </p:cNvPicPr>
          <p:nvPr/>
        </p:nvPicPr>
        <p:blipFill>
          <a:blip r:embed="rId4"/>
          <a:stretch>
            <a:fillRect/>
          </a:stretch>
        </p:blipFill>
        <p:spPr>
          <a:xfrm>
            <a:off x="6035040" y="2196592"/>
            <a:ext cx="292608" cy="292608"/>
          </a:xfrm>
          <a:prstGeom prst="rect">
            <a:avLst/>
          </a:prstGeom>
        </p:spPr>
      </p:pic>
      <p:sp>
        <p:nvSpPr>
          <p:cNvPr id="9" name="Text 5"/>
          <p:cNvSpPr/>
          <p:nvPr/>
        </p:nvSpPr>
        <p:spPr>
          <a:xfrm>
            <a:off x="6446520" y="1965960"/>
            <a:ext cx="5166360" cy="713232"/>
          </a:xfrm>
          <a:prstGeom prst="rect">
            <a:avLst/>
          </a:prstGeom>
          <a:noFill/>
          <a:ln/>
        </p:spPr>
        <p:txBody>
          <a:bodyPr wrap="square" lIns="0" tIns="0" rIns="0" bIns="0" rtlCol="0" anchor="ctr"/>
          <a:lstStyle/>
          <a:p>
            <a:pPr marL="0" indent="0">
              <a:lnSpc>
                <a:spcPct val="110000"/>
              </a:lnSpc>
              <a:buNone/>
            </a:pPr>
            <a:r>
              <a:rPr lang="en-US" sz="1250" dirty="0">
                <a:solidFill>
                  <a:srgbClr val="3A2C55"/>
                </a:solidFill>
                <a:latin typeface="Calibri" pitchFamily="34" charset="0"/>
                <a:ea typeface="Calibri" pitchFamily="34" charset="-122"/>
                <a:cs typeface="Calibri" pitchFamily="34" charset="-120"/>
              </a:rPr>
              <a:t>Real-time scoring — results appear in seconds, not after manual review.</a:t>
            </a:r>
            <a:endParaRPr lang="en-US" sz="1250" dirty="0"/>
          </a:p>
        </p:txBody>
      </p:sp>
      <p:pic>
        <p:nvPicPr>
          <p:cNvPr id="10" name="Image 2" descr="icons/checkcircle_lavender.png"/>
          <p:cNvPicPr>
            <a:picLocks noChangeAspect="1"/>
          </p:cNvPicPr>
          <p:nvPr/>
        </p:nvPicPr>
        <p:blipFill>
          <a:blip r:embed="rId4"/>
          <a:stretch>
            <a:fillRect/>
          </a:stretch>
        </p:blipFill>
        <p:spPr>
          <a:xfrm>
            <a:off x="6035040" y="3013964"/>
            <a:ext cx="292608" cy="292608"/>
          </a:xfrm>
          <a:prstGeom prst="rect">
            <a:avLst/>
          </a:prstGeom>
        </p:spPr>
      </p:pic>
      <p:sp>
        <p:nvSpPr>
          <p:cNvPr id="11" name="Text 6"/>
          <p:cNvSpPr/>
          <p:nvPr/>
        </p:nvSpPr>
        <p:spPr>
          <a:xfrm>
            <a:off x="6446520" y="2770632"/>
            <a:ext cx="5166360" cy="713232"/>
          </a:xfrm>
          <a:prstGeom prst="rect">
            <a:avLst/>
          </a:prstGeom>
          <a:noFill/>
          <a:ln/>
        </p:spPr>
        <p:txBody>
          <a:bodyPr wrap="square" lIns="0" tIns="0" rIns="0" bIns="0" rtlCol="0" anchor="ctr"/>
          <a:lstStyle/>
          <a:p>
            <a:pPr marL="0" indent="0">
              <a:lnSpc>
                <a:spcPct val="110000"/>
              </a:lnSpc>
              <a:buNone/>
            </a:pPr>
            <a:r>
              <a:rPr lang="en-US" sz="1250" dirty="0">
                <a:solidFill>
                  <a:srgbClr val="3A2C55"/>
                </a:solidFill>
                <a:latin typeface="Calibri" pitchFamily="34" charset="0"/>
                <a:ea typeface="Calibri" pitchFamily="34" charset="-122"/>
                <a:cs typeface="Calibri" pitchFamily="34" charset="-120"/>
              </a:rPr>
              <a:t>One simple score instead of scattered technical flags.</a:t>
            </a:r>
            <a:endParaRPr lang="en-US" sz="1250" dirty="0"/>
          </a:p>
        </p:txBody>
      </p:sp>
      <p:pic>
        <p:nvPicPr>
          <p:cNvPr id="12" name="Image 3" descr="icons/checkcircle_lavender.png"/>
          <p:cNvPicPr>
            <a:picLocks noChangeAspect="1"/>
          </p:cNvPicPr>
          <p:nvPr/>
        </p:nvPicPr>
        <p:blipFill>
          <a:blip r:embed="rId4"/>
          <a:stretch>
            <a:fillRect/>
          </a:stretch>
        </p:blipFill>
        <p:spPr>
          <a:xfrm>
            <a:off x="6035040" y="3780536"/>
            <a:ext cx="292608" cy="292608"/>
          </a:xfrm>
          <a:prstGeom prst="rect">
            <a:avLst/>
          </a:prstGeom>
        </p:spPr>
      </p:pic>
      <p:sp>
        <p:nvSpPr>
          <p:cNvPr id="13" name="Text 7"/>
          <p:cNvSpPr/>
          <p:nvPr/>
        </p:nvSpPr>
        <p:spPr>
          <a:xfrm>
            <a:off x="6446520" y="3575304"/>
            <a:ext cx="5166360" cy="713232"/>
          </a:xfrm>
          <a:prstGeom prst="rect">
            <a:avLst/>
          </a:prstGeom>
          <a:noFill/>
          <a:ln/>
        </p:spPr>
        <p:txBody>
          <a:bodyPr wrap="square" lIns="0" tIns="0" rIns="0" bIns="0" rtlCol="0" anchor="ctr"/>
          <a:lstStyle/>
          <a:p>
            <a:pPr marL="0" indent="0">
              <a:lnSpc>
                <a:spcPct val="110000"/>
              </a:lnSpc>
              <a:buNone/>
            </a:pPr>
            <a:r>
              <a:rPr lang="en-US" sz="1250" dirty="0">
                <a:solidFill>
                  <a:srgbClr val="3A2C55"/>
                </a:solidFill>
                <a:latin typeface="Calibri" pitchFamily="34" charset="0"/>
                <a:ea typeface="Calibri" pitchFamily="34" charset="-122"/>
                <a:cs typeface="Calibri" pitchFamily="34" charset="-120"/>
              </a:rPr>
              <a:t>Optional AI layer adds context beyond fixed rules.</a:t>
            </a:r>
            <a:endParaRPr lang="en-US" sz="1250" dirty="0"/>
          </a:p>
        </p:txBody>
      </p:sp>
      <p:pic>
        <p:nvPicPr>
          <p:cNvPr id="14" name="Image 4" descr="icons/checkcircle_lavender.png"/>
          <p:cNvPicPr>
            <a:picLocks noChangeAspect="1"/>
          </p:cNvPicPr>
          <p:nvPr/>
        </p:nvPicPr>
        <p:blipFill>
          <a:blip r:embed="rId4"/>
          <a:stretch>
            <a:fillRect/>
          </a:stretch>
        </p:blipFill>
        <p:spPr>
          <a:xfrm>
            <a:off x="6035040" y="4610608"/>
            <a:ext cx="292608" cy="292608"/>
          </a:xfrm>
          <a:prstGeom prst="rect">
            <a:avLst/>
          </a:prstGeom>
        </p:spPr>
      </p:pic>
      <p:sp>
        <p:nvSpPr>
          <p:cNvPr id="15" name="Text 8"/>
          <p:cNvSpPr/>
          <p:nvPr/>
        </p:nvSpPr>
        <p:spPr>
          <a:xfrm>
            <a:off x="6446520" y="4379976"/>
            <a:ext cx="5166360" cy="713232"/>
          </a:xfrm>
          <a:prstGeom prst="rect">
            <a:avLst/>
          </a:prstGeom>
          <a:noFill/>
          <a:ln/>
        </p:spPr>
        <p:txBody>
          <a:bodyPr wrap="square" lIns="0" tIns="0" rIns="0" bIns="0" rtlCol="0" anchor="ctr"/>
          <a:lstStyle/>
          <a:p>
            <a:pPr marL="0" indent="0">
              <a:lnSpc>
                <a:spcPct val="110000"/>
              </a:lnSpc>
              <a:buNone/>
            </a:pPr>
            <a:r>
              <a:rPr lang="en-US" sz="1250" dirty="0">
                <a:solidFill>
                  <a:srgbClr val="3A2C55"/>
                </a:solidFill>
                <a:latin typeface="Calibri" pitchFamily="34" charset="0"/>
                <a:ea typeface="Calibri" pitchFamily="34" charset="-122"/>
                <a:cs typeface="Calibri" pitchFamily="34" charset="-120"/>
              </a:rPr>
              <a:t>Searchable history lets users revisit and compare past scans.</a:t>
            </a:r>
            <a:endParaRPr lang="en-US" sz="1250" dirty="0"/>
          </a:p>
        </p:txBody>
      </p:sp>
      <p:pic>
        <p:nvPicPr>
          <p:cNvPr id="16" name="Image 5" descr="icons/checkcircle_lavender.png"/>
          <p:cNvPicPr>
            <a:picLocks noChangeAspect="1"/>
          </p:cNvPicPr>
          <p:nvPr/>
        </p:nvPicPr>
        <p:blipFill>
          <a:blip r:embed="rId4"/>
          <a:stretch>
            <a:fillRect/>
          </a:stretch>
        </p:blipFill>
        <p:spPr>
          <a:xfrm>
            <a:off x="6035040" y="5389880"/>
            <a:ext cx="292608" cy="292608"/>
          </a:xfrm>
          <a:prstGeom prst="rect">
            <a:avLst/>
          </a:prstGeom>
        </p:spPr>
      </p:pic>
      <p:sp>
        <p:nvSpPr>
          <p:cNvPr id="17" name="Text 9"/>
          <p:cNvSpPr/>
          <p:nvPr/>
        </p:nvSpPr>
        <p:spPr>
          <a:xfrm>
            <a:off x="6446520" y="5184648"/>
            <a:ext cx="5166360" cy="713232"/>
          </a:xfrm>
          <a:prstGeom prst="rect">
            <a:avLst/>
          </a:prstGeom>
          <a:noFill/>
          <a:ln/>
        </p:spPr>
        <p:txBody>
          <a:bodyPr wrap="square" lIns="0" tIns="0" rIns="0" bIns="0" rtlCol="0" anchor="ctr"/>
          <a:lstStyle/>
          <a:p>
            <a:pPr marL="0" indent="0">
              <a:lnSpc>
                <a:spcPct val="110000"/>
              </a:lnSpc>
              <a:buNone/>
            </a:pPr>
            <a:r>
              <a:rPr lang="en-US" sz="1250" dirty="0">
                <a:solidFill>
                  <a:srgbClr val="3A2C55"/>
                </a:solidFill>
                <a:latin typeface="Calibri" pitchFamily="34" charset="0"/>
                <a:ea typeface="Calibri" pitchFamily="34" charset="-122"/>
                <a:cs typeface="Calibri" pitchFamily="34" charset="-120"/>
              </a:rPr>
              <a:t>Responsive design works equally well on desktop and mobile.</a:t>
            </a:r>
            <a:endParaRPr lang="en-US" sz="1250" dirty="0"/>
          </a:p>
        </p:txBody>
      </p:sp>
      <p:sp>
        <p:nvSpPr>
          <p:cNvPr id="18" name="Text 10"/>
          <p:cNvSpPr/>
          <p:nvPr/>
        </p:nvSpPr>
        <p:spPr>
          <a:xfrm>
            <a:off x="457200" y="6473952"/>
            <a:ext cx="8229600" cy="274320"/>
          </a:xfrm>
          <a:prstGeom prst="rect">
            <a:avLst/>
          </a:prstGeom>
          <a:noFill/>
          <a:ln/>
        </p:spPr>
        <p:txBody>
          <a:bodyPr wrap="square" rtlCol="0" anchor="ctr"/>
          <a:lstStyle/>
          <a:p>
            <a:pPr marL="0" indent="0">
              <a:buNone/>
            </a:pPr>
            <a:r>
              <a:rPr lang="en-US" sz="1000" dirty="0">
                <a:solidFill>
                  <a:srgbClr val="6B5B95"/>
                </a:solidFill>
                <a:latin typeface="Calibri" pitchFamily="34" charset="0"/>
                <a:ea typeface="Calibri" pitchFamily="34" charset="-122"/>
                <a:cs typeface="Calibri" pitchFamily="34" charset="-120"/>
              </a:rPr>
              <a:t>AI-Powered Scam Website Detection System</a:t>
            </a:r>
            <a:endParaRPr lang="en-US" sz="1000" dirty="0"/>
          </a:p>
        </p:txBody>
      </p:sp>
      <p:sp>
        <p:nvSpPr>
          <p:cNvPr id="19" name="Text 11"/>
          <p:cNvSpPr/>
          <p:nvPr/>
        </p:nvSpPr>
        <p:spPr>
          <a:xfrm>
            <a:off x="11274552" y="6473952"/>
            <a:ext cx="457200" cy="274320"/>
          </a:xfrm>
          <a:prstGeom prst="rect">
            <a:avLst/>
          </a:prstGeom>
          <a:noFill/>
          <a:ln/>
        </p:spPr>
        <p:txBody>
          <a:bodyPr wrap="square" rtlCol="0" anchor="ctr"/>
          <a:lstStyle/>
          <a:p>
            <a:pPr marL="0" indent="0">
              <a:buNone/>
            </a:pPr>
            <a:r>
              <a:rPr lang="en-US" sz="1000" dirty="0">
                <a:solidFill>
                  <a:srgbClr val="6B5B9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B7FC7"/>
                </a:solidFill>
                <a:latin typeface="Calibri" pitchFamily="34" charset="0"/>
                <a:ea typeface="Calibri" pitchFamily="34" charset="-122"/>
                <a:cs typeface="Calibri" pitchFamily="34" charset="-120"/>
              </a:rPr>
              <a:t>IMPLEMENTATION</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200" b="1" dirty="0">
                <a:solidFill>
                  <a:srgbClr val="3A2C55"/>
                </a:solidFill>
                <a:latin typeface="Cambria" pitchFamily="34" charset="0"/>
                <a:ea typeface="Cambria" pitchFamily="34" charset="-122"/>
                <a:cs typeface="Cambria" pitchFamily="34" charset="-120"/>
              </a:rPr>
              <a:t>System Process Flow</a:t>
            </a:r>
            <a:endParaRPr lang="en-US" sz="3200" dirty="0"/>
          </a:p>
        </p:txBody>
      </p:sp>
      <p:sp>
        <p:nvSpPr>
          <p:cNvPr id="4" name="Shape 2"/>
          <p:cNvSpPr/>
          <p:nvPr/>
        </p:nvSpPr>
        <p:spPr>
          <a:xfrm>
            <a:off x="594360" y="2286000"/>
            <a:ext cx="1965960" cy="2331720"/>
          </a:xfrm>
          <a:prstGeom prst="roundRect">
            <a:avLst>
              <a:gd name="adj" fmla="val 4651"/>
            </a:avLst>
          </a:prstGeom>
          <a:solidFill>
            <a:srgbClr val="4B2E83"/>
          </a:solidFill>
          <a:ln/>
        </p:spPr>
      </p:sp>
      <p:pic>
        <p:nvPicPr>
          <p:cNvPr id="5" name="Image 0" descr="icons/link_white.png"/>
          <p:cNvPicPr>
            <a:picLocks noChangeAspect="1"/>
          </p:cNvPicPr>
          <p:nvPr/>
        </p:nvPicPr>
        <p:blipFill>
          <a:blip r:embed="rId3"/>
          <a:stretch>
            <a:fillRect/>
          </a:stretch>
        </p:blipFill>
        <p:spPr>
          <a:xfrm>
            <a:off x="1321308" y="2578608"/>
            <a:ext cx="512064" cy="512064"/>
          </a:xfrm>
          <a:prstGeom prst="rect">
            <a:avLst/>
          </a:prstGeom>
        </p:spPr>
      </p:pic>
      <p:sp>
        <p:nvSpPr>
          <p:cNvPr id="6" name="Text 3"/>
          <p:cNvSpPr/>
          <p:nvPr/>
        </p:nvSpPr>
        <p:spPr>
          <a:xfrm>
            <a:off x="704088" y="3246120"/>
            <a:ext cx="1746504" cy="502920"/>
          </a:xfrm>
          <a:prstGeom prst="rect">
            <a:avLst/>
          </a:prstGeom>
          <a:noFill/>
          <a:ln/>
        </p:spPr>
        <p:txBody>
          <a:bodyPr wrap="square" lIns="0" tIns="0" rIns="0" bIns="0" rtlCol="0" anchor="ctr"/>
          <a:lstStyle/>
          <a:p>
            <a:pPr marL="0" indent="0" algn="ctr">
              <a:lnSpc>
                <a:spcPct val="105000"/>
              </a:lnSpc>
              <a:buNone/>
            </a:pPr>
            <a:r>
              <a:rPr lang="en-US" sz="1250" b="1" dirty="0">
                <a:solidFill>
                  <a:srgbClr val="FFFFFF"/>
                </a:solidFill>
                <a:latin typeface="Calibri" pitchFamily="34" charset="0"/>
                <a:ea typeface="Calibri" pitchFamily="34" charset="-122"/>
                <a:cs typeface="Calibri" pitchFamily="34" charset="-120"/>
              </a:rPr>
              <a:t>User Submits URL</a:t>
            </a:r>
            <a:endParaRPr lang="en-US" sz="1250" dirty="0"/>
          </a:p>
        </p:txBody>
      </p:sp>
      <p:sp>
        <p:nvSpPr>
          <p:cNvPr id="7" name="Text 4"/>
          <p:cNvSpPr/>
          <p:nvPr/>
        </p:nvSpPr>
        <p:spPr>
          <a:xfrm>
            <a:off x="731520" y="3730752"/>
            <a:ext cx="1691640" cy="822960"/>
          </a:xfrm>
          <a:prstGeom prst="rect">
            <a:avLst/>
          </a:prstGeom>
          <a:noFill/>
          <a:ln/>
        </p:spPr>
        <p:txBody>
          <a:bodyPr wrap="square" lIns="0" tIns="0" rIns="0" bIns="0" rtlCol="0" anchor="t"/>
          <a:lstStyle/>
          <a:p>
            <a:pPr marL="0" indent="0" algn="ctr">
              <a:lnSpc>
                <a:spcPct val="110000"/>
              </a:lnSpc>
              <a:buNone/>
            </a:pPr>
            <a:r>
              <a:rPr lang="en-US" sz="950" dirty="0">
                <a:solidFill>
                  <a:srgbClr val="F0EAFA"/>
                </a:solidFill>
                <a:latin typeface="Calibri" pitchFamily="34" charset="0"/>
                <a:ea typeface="Calibri" pitchFamily="34" charset="-122"/>
                <a:cs typeface="Calibri" pitchFamily="34" charset="-120"/>
              </a:rPr>
              <a:t>Pasted into the scan box on the client interface</a:t>
            </a:r>
            <a:endParaRPr lang="en-US" sz="950" dirty="0"/>
          </a:p>
        </p:txBody>
      </p:sp>
      <p:sp>
        <p:nvSpPr>
          <p:cNvPr id="8" name="Text 5"/>
          <p:cNvSpPr/>
          <p:nvPr/>
        </p:nvSpPr>
        <p:spPr>
          <a:xfrm>
            <a:off x="2560320" y="3223260"/>
            <a:ext cx="292608" cy="457200"/>
          </a:xfrm>
          <a:prstGeom prst="rect">
            <a:avLst/>
          </a:prstGeom>
          <a:noFill/>
          <a:ln/>
        </p:spPr>
        <p:txBody>
          <a:bodyPr wrap="square" rtlCol="0" anchor="ctr"/>
          <a:lstStyle/>
          <a:p>
            <a:pPr marL="0" indent="0" algn="ctr">
              <a:buNone/>
            </a:pPr>
            <a:r>
              <a:rPr lang="en-US" sz="2200" b="1" dirty="0">
                <a:solidFill>
                  <a:srgbClr val="4B2E83"/>
                </a:solidFill>
                <a:latin typeface="Calibri" pitchFamily="34" charset="0"/>
                <a:ea typeface="Calibri" pitchFamily="34" charset="-122"/>
                <a:cs typeface="Calibri" pitchFamily="34" charset="-120"/>
              </a:rPr>
              <a:t>→</a:t>
            </a:r>
            <a:endParaRPr lang="en-US" sz="2200" dirty="0"/>
          </a:p>
        </p:txBody>
      </p:sp>
      <p:sp>
        <p:nvSpPr>
          <p:cNvPr id="9" name="Shape 6"/>
          <p:cNvSpPr/>
          <p:nvPr/>
        </p:nvSpPr>
        <p:spPr>
          <a:xfrm>
            <a:off x="2852928" y="2286000"/>
            <a:ext cx="1965960" cy="2331720"/>
          </a:xfrm>
          <a:prstGeom prst="roundRect">
            <a:avLst>
              <a:gd name="adj" fmla="val 4651"/>
            </a:avLst>
          </a:prstGeom>
          <a:solidFill>
            <a:srgbClr val="9B7FC7"/>
          </a:solidFill>
          <a:ln/>
        </p:spPr>
      </p:sp>
      <p:pic>
        <p:nvPicPr>
          <p:cNvPr id="10" name="Image 1" descr="icons/search_white.png"/>
          <p:cNvPicPr>
            <a:picLocks noChangeAspect="1"/>
          </p:cNvPicPr>
          <p:nvPr/>
        </p:nvPicPr>
        <p:blipFill>
          <a:blip r:embed="rId4"/>
          <a:stretch>
            <a:fillRect/>
          </a:stretch>
        </p:blipFill>
        <p:spPr>
          <a:xfrm>
            <a:off x="3579876" y="2578608"/>
            <a:ext cx="512064" cy="512064"/>
          </a:xfrm>
          <a:prstGeom prst="rect">
            <a:avLst/>
          </a:prstGeom>
        </p:spPr>
      </p:pic>
      <p:sp>
        <p:nvSpPr>
          <p:cNvPr id="11" name="Text 7"/>
          <p:cNvSpPr/>
          <p:nvPr/>
        </p:nvSpPr>
        <p:spPr>
          <a:xfrm>
            <a:off x="2962656" y="3246120"/>
            <a:ext cx="1746504" cy="502920"/>
          </a:xfrm>
          <a:prstGeom prst="rect">
            <a:avLst/>
          </a:prstGeom>
          <a:noFill/>
          <a:ln/>
        </p:spPr>
        <p:txBody>
          <a:bodyPr wrap="square" lIns="0" tIns="0" rIns="0" bIns="0" rtlCol="0" anchor="ctr"/>
          <a:lstStyle/>
          <a:p>
            <a:pPr marL="0" indent="0" algn="ctr">
              <a:lnSpc>
                <a:spcPct val="105000"/>
              </a:lnSpc>
              <a:buNone/>
            </a:pPr>
            <a:r>
              <a:rPr lang="en-US" sz="1250" b="1" dirty="0">
                <a:solidFill>
                  <a:srgbClr val="FFFFFF"/>
                </a:solidFill>
                <a:latin typeface="Calibri" pitchFamily="34" charset="0"/>
                <a:ea typeface="Calibri" pitchFamily="34" charset="-122"/>
                <a:cs typeface="Calibri" pitchFamily="34" charset="-120"/>
              </a:rPr>
              <a:t>Automated Scan Runs</a:t>
            </a:r>
            <a:endParaRPr lang="en-US" sz="1250" dirty="0"/>
          </a:p>
        </p:txBody>
      </p:sp>
      <p:sp>
        <p:nvSpPr>
          <p:cNvPr id="12" name="Text 8"/>
          <p:cNvSpPr/>
          <p:nvPr/>
        </p:nvSpPr>
        <p:spPr>
          <a:xfrm>
            <a:off x="2990088" y="3730752"/>
            <a:ext cx="1691640" cy="822960"/>
          </a:xfrm>
          <a:prstGeom prst="rect">
            <a:avLst/>
          </a:prstGeom>
          <a:noFill/>
          <a:ln/>
        </p:spPr>
        <p:txBody>
          <a:bodyPr wrap="square" lIns="0" tIns="0" rIns="0" bIns="0" rtlCol="0" anchor="t"/>
          <a:lstStyle/>
          <a:p>
            <a:pPr marL="0" indent="0" algn="ctr">
              <a:lnSpc>
                <a:spcPct val="110000"/>
              </a:lnSpc>
              <a:buNone/>
            </a:pPr>
            <a:r>
              <a:rPr lang="en-US" sz="950" dirty="0">
                <a:solidFill>
                  <a:srgbClr val="F0EAFA"/>
                </a:solidFill>
                <a:latin typeface="Calibri" pitchFamily="34" charset="0"/>
                <a:ea typeface="Calibri" pitchFamily="34" charset="-122"/>
                <a:cs typeface="Calibri" pitchFamily="34" charset="-120"/>
              </a:rPr>
              <a:t>HTTPS, domain data &amp; URL pattern checks execute</a:t>
            </a:r>
            <a:endParaRPr lang="en-US" sz="950" dirty="0"/>
          </a:p>
        </p:txBody>
      </p:sp>
      <p:sp>
        <p:nvSpPr>
          <p:cNvPr id="13" name="Text 9"/>
          <p:cNvSpPr/>
          <p:nvPr/>
        </p:nvSpPr>
        <p:spPr>
          <a:xfrm>
            <a:off x="4818888" y="3223260"/>
            <a:ext cx="292608" cy="457200"/>
          </a:xfrm>
          <a:prstGeom prst="rect">
            <a:avLst/>
          </a:prstGeom>
          <a:noFill/>
          <a:ln/>
        </p:spPr>
        <p:txBody>
          <a:bodyPr wrap="square" rtlCol="0" anchor="ctr"/>
          <a:lstStyle/>
          <a:p>
            <a:pPr marL="0" indent="0" algn="ctr">
              <a:buNone/>
            </a:pPr>
            <a:r>
              <a:rPr lang="en-US" sz="2200" b="1" dirty="0">
                <a:solidFill>
                  <a:srgbClr val="4B2E83"/>
                </a:solidFill>
                <a:latin typeface="Calibri" pitchFamily="34" charset="0"/>
                <a:ea typeface="Calibri" pitchFamily="34" charset="-122"/>
                <a:cs typeface="Calibri" pitchFamily="34" charset="-120"/>
              </a:rPr>
              <a:t>→</a:t>
            </a:r>
            <a:endParaRPr lang="en-US" sz="2200" dirty="0"/>
          </a:p>
        </p:txBody>
      </p:sp>
      <p:sp>
        <p:nvSpPr>
          <p:cNvPr id="14" name="Shape 10"/>
          <p:cNvSpPr/>
          <p:nvPr/>
        </p:nvSpPr>
        <p:spPr>
          <a:xfrm>
            <a:off x="5111496" y="2286000"/>
            <a:ext cx="1965960" cy="2331720"/>
          </a:xfrm>
          <a:prstGeom prst="roundRect">
            <a:avLst>
              <a:gd name="adj" fmla="val 4651"/>
            </a:avLst>
          </a:prstGeom>
          <a:solidFill>
            <a:srgbClr val="4B2E83"/>
          </a:solidFill>
          <a:ln/>
        </p:spPr>
      </p:sp>
      <p:pic>
        <p:nvPicPr>
          <p:cNvPr id="15" name="Image 2" descr="icons/cpu_white.png"/>
          <p:cNvPicPr>
            <a:picLocks noChangeAspect="1"/>
          </p:cNvPicPr>
          <p:nvPr/>
        </p:nvPicPr>
        <p:blipFill>
          <a:blip r:embed="rId5"/>
          <a:stretch>
            <a:fillRect/>
          </a:stretch>
        </p:blipFill>
        <p:spPr>
          <a:xfrm>
            <a:off x="5838444" y="2578608"/>
            <a:ext cx="512064" cy="512064"/>
          </a:xfrm>
          <a:prstGeom prst="rect">
            <a:avLst/>
          </a:prstGeom>
        </p:spPr>
      </p:pic>
      <p:sp>
        <p:nvSpPr>
          <p:cNvPr id="16" name="Text 11"/>
          <p:cNvSpPr/>
          <p:nvPr/>
        </p:nvSpPr>
        <p:spPr>
          <a:xfrm>
            <a:off x="5221224" y="3246120"/>
            <a:ext cx="1746504" cy="502920"/>
          </a:xfrm>
          <a:prstGeom prst="rect">
            <a:avLst/>
          </a:prstGeom>
          <a:noFill/>
          <a:ln/>
        </p:spPr>
        <p:txBody>
          <a:bodyPr wrap="square" lIns="0" tIns="0" rIns="0" bIns="0" rtlCol="0" anchor="ctr"/>
          <a:lstStyle/>
          <a:p>
            <a:pPr marL="0" indent="0" algn="ctr">
              <a:lnSpc>
                <a:spcPct val="105000"/>
              </a:lnSpc>
              <a:buNone/>
            </a:pPr>
            <a:r>
              <a:rPr lang="en-US" sz="1250" b="1" dirty="0">
                <a:solidFill>
                  <a:srgbClr val="FFFFFF"/>
                </a:solidFill>
                <a:latin typeface="Calibri" pitchFamily="34" charset="0"/>
                <a:ea typeface="Calibri" pitchFamily="34" charset="-122"/>
                <a:cs typeface="Calibri" pitchFamily="34" charset="-120"/>
              </a:rPr>
              <a:t>AI Analysis </a:t>
            </a:r>
            <a:endParaRPr lang="en-US" sz="1250" dirty="0"/>
          </a:p>
        </p:txBody>
      </p:sp>
      <p:sp>
        <p:nvSpPr>
          <p:cNvPr id="17" name="Text 12"/>
          <p:cNvSpPr/>
          <p:nvPr/>
        </p:nvSpPr>
        <p:spPr>
          <a:xfrm>
            <a:off x="5248656" y="3730752"/>
            <a:ext cx="1691640" cy="822960"/>
          </a:xfrm>
          <a:prstGeom prst="rect">
            <a:avLst/>
          </a:prstGeom>
          <a:noFill/>
          <a:ln/>
        </p:spPr>
        <p:txBody>
          <a:bodyPr wrap="square" lIns="0" tIns="0" rIns="0" bIns="0" rtlCol="0" anchor="t"/>
          <a:lstStyle/>
          <a:p>
            <a:pPr marL="0" indent="0" algn="ctr">
              <a:lnSpc>
                <a:spcPct val="110000"/>
              </a:lnSpc>
              <a:buNone/>
            </a:pPr>
            <a:r>
              <a:rPr lang="en-US" sz="950" dirty="0">
                <a:solidFill>
                  <a:srgbClr val="F0EAFA"/>
                </a:solidFill>
                <a:latin typeface="Calibri" pitchFamily="34" charset="0"/>
                <a:ea typeface="Calibri" pitchFamily="34" charset="-122"/>
                <a:cs typeface="Calibri" pitchFamily="34" charset="-120"/>
              </a:rPr>
              <a:t>Gemini API reviews content &amp; context signals</a:t>
            </a:r>
            <a:endParaRPr lang="en-US" sz="950" dirty="0"/>
          </a:p>
        </p:txBody>
      </p:sp>
      <p:sp>
        <p:nvSpPr>
          <p:cNvPr id="18" name="Text 13"/>
          <p:cNvSpPr/>
          <p:nvPr/>
        </p:nvSpPr>
        <p:spPr>
          <a:xfrm>
            <a:off x="7077456" y="3223260"/>
            <a:ext cx="292608" cy="457200"/>
          </a:xfrm>
          <a:prstGeom prst="rect">
            <a:avLst/>
          </a:prstGeom>
          <a:noFill/>
          <a:ln/>
        </p:spPr>
        <p:txBody>
          <a:bodyPr wrap="square" rtlCol="0" anchor="ctr"/>
          <a:lstStyle/>
          <a:p>
            <a:pPr marL="0" indent="0" algn="ctr">
              <a:buNone/>
            </a:pPr>
            <a:r>
              <a:rPr lang="en-US" sz="2200" b="1" dirty="0">
                <a:solidFill>
                  <a:srgbClr val="4B2E83"/>
                </a:solidFill>
                <a:latin typeface="Calibri" pitchFamily="34" charset="0"/>
                <a:ea typeface="Calibri" pitchFamily="34" charset="-122"/>
                <a:cs typeface="Calibri" pitchFamily="34" charset="-120"/>
              </a:rPr>
              <a:t>→</a:t>
            </a:r>
            <a:endParaRPr lang="en-US" sz="2200" dirty="0"/>
          </a:p>
        </p:txBody>
      </p:sp>
      <p:sp>
        <p:nvSpPr>
          <p:cNvPr id="19" name="Shape 14"/>
          <p:cNvSpPr/>
          <p:nvPr/>
        </p:nvSpPr>
        <p:spPr>
          <a:xfrm>
            <a:off x="7370064" y="2286000"/>
            <a:ext cx="1965960" cy="2331720"/>
          </a:xfrm>
          <a:prstGeom prst="roundRect">
            <a:avLst>
              <a:gd name="adj" fmla="val 4651"/>
            </a:avLst>
          </a:prstGeom>
          <a:solidFill>
            <a:srgbClr val="9B7FC7"/>
          </a:solidFill>
          <a:ln/>
        </p:spPr>
      </p:sp>
      <p:pic>
        <p:nvPicPr>
          <p:cNvPr id="20" name="Image 3" descr="icons/checkcircle_white.png"/>
          <p:cNvPicPr>
            <a:picLocks noChangeAspect="1"/>
          </p:cNvPicPr>
          <p:nvPr/>
        </p:nvPicPr>
        <p:blipFill>
          <a:blip r:embed="rId6"/>
          <a:stretch>
            <a:fillRect/>
          </a:stretch>
        </p:blipFill>
        <p:spPr>
          <a:xfrm>
            <a:off x="8097012" y="2578608"/>
            <a:ext cx="512064" cy="512064"/>
          </a:xfrm>
          <a:prstGeom prst="rect">
            <a:avLst/>
          </a:prstGeom>
        </p:spPr>
      </p:pic>
      <p:sp>
        <p:nvSpPr>
          <p:cNvPr id="21" name="Text 15"/>
          <p:cNvSpPr/>
          <p:nvPr/>
        </p:nvSpPr>
        <p:spPr>
          <a:xfrm>
            <a:off x="7479792" y="3246120"/>
            <a:ext cx="1746504" cy="502920"/>
          </a:xfrm>
          <a:prstGeom prst="rect">
            <a:avLst/>
          </a:prstGeom>
          <a:noFill/>
          <a:ln/>
        </p:spPr>
        <p:txBody>
          <a:bodyPr wrap="square" lIns="0" tIns="0" rIns="0" bIns="0" rtlCol="0" anchor="ctr"/>
          <a:lstStyle/>
          <a:p>
            <a:pPr marL="0" indent="0" algn="ctr">
              <a:lnSpc>
                <a:spcPct val="105000"/>
              </a:lnSpc>
              <a:buNone/>
            </a:pPr>
            <a:r>
              <a:rPr lang="en-US" sz="1250" b="1" dirty="0">
                <a:solidFill>
                  <a:srgbClr val="FFFFFF"/>
                </a:solidFill>
                <a:latin typeface="Calibri" pitchFamily="34" charset="0"/>
                <a:ea typeface="Calibri" pitchFamily="34" charset="-122"/>
                <a:cs typeface="Calibri" pitchFamily="34" charset="-120"/>
              </a:rPr>
              <a:t>Trust Score Generated</a:t>
            </a:r>
            <a:endParaRPr lang="en-US" sz="1250" dirty="0"/>
          </a:p>
        </p:txBody>
      </p:sp>
      <p:sp>
        <p:nvSpPr>
          <p:cNvPr id="22" name="Text 16"/>
          <p:cNvSpPr/>
          <p:nvPr/>
        </p:nvSpPr>
        <p:spPr>
          <a:xfrm>
            <a:off x="7507224" y="3730752"/>
            <a:ext cx="1691640" cy="822960"/>
          </a:xfrm>
          <a:prstGeom prst="rect">
            <a:avLst/>
          </a:prstGeom>
          <a:noFill/>
          <a:ln/>
        </p:spPr>
        <p:txBody>
          <a:bodyPr wrap="square" lIns="0" tIns="0" rIns="0" bIns="0" rtlCol="0" anchor="t"/>
          <a:lstStyle/>
          <a:p>
            <a:pPr marL="0" indent="0" algn="ctr">
              <a:lnSpc>
                <a:spcPct val="110000"/>
              </a:lnSpc>
              <a:buNone/>
            </a:pPr>
            <a:r>
              <a:rPr lang="en-US" sz="950" dirty="0">
                <a:solidFill>
                  <a:srgbClr val="F0EAFA"/>
                </a:solidFill>
                <a:latin typeface="Calibri" pitchFamily="34" charset="0"/>
                <a:ea typeface="Calibri" pitchFamily="34" charset="-122"/>
                <a:cs typeface="Calibri" pitchFamily="34" charset="-120"/>
              </a:rPr>
              <a:t>Signals combined into one composite score</a:t>
            </a:r>
            <a:endParaRPr lang="en-US" sz="950" dirty="0"/>
          </a:p>
        </p:txBody>
      </p:sp>
      <p:sp>
        <p:nvSpPr>
          <p:cNvPr id="23" name="Text 17"/>
          <p:cNvSpPr/>
          <p:nvPr/>
        </p:nvSpPr>
        <p:spPr>
          <a:xfrm>
            <a:off x="9336024" y="3223260"/>
            <a:ext cx="292608" cy="457200"/>
          </a:xfrm>
          <a:prstGeom prst="rect">
            <a:avLst/>
          </a:prstGeom>
          <a:noFill/>
          <a:ln/>
        </p:spPr>
        <p:txBody>
          <a:bodyPr wrap="square" rtlCol="0" anchor="ctr"/>
          <a:lstStyle/>
          <a:p>
            <a:pPr marL="0" indent="0" algn="ctr">
              <a:buNone/>
            </a:pPr>
            <a:r>
              <a:rPr lang="en-US" sz="2200" b="1" dirty="0">
                <a:solidFill>
                  <a:srgbClr val="4B2E83"/>
                </a:solidFill>
                <a:latin typeface="Calibri" pitchFamily="34" charset="0"/>
                <a:ea typeface="Calibri" pitchFamily="34" charset="-122"/>
                <a:cs typeface="Calibri" pitchFamily="34" charset="-120"/>
              </a:rPr>
              <a:t>→</a:t>
            </a:r>
            <a:endParaRPr lang="en-US" sz="2200" dirty="0"/>
          </a:p>
        </p:txBody>
      </p:sp>
      <p:sp>
        <p:nvSpPr>
          <p:cNvPr id="24" name="Shape 18"/>
          <p:cNvSpPr/>
          <p:nvPr/>
        </p:nvSpPr>
        <p:spPr>
          <a:xfrm>
            <a:off x="9628632" y="2286000"/>
            <a:ext cx="1965960" cy="2331720"/>
          </a:xfrm>
          <a:prstGeom prst="roundRect">
            <a:avLst>
              <a:gd name="adj" fmla="val 4651"/>
            </a:avLst>
          </a:prstGeom>
          <a:solidFill>
            <a:srgbClr val="4B2E83"/>
          </a:solidFill>
          <a:ln/>
        </p:spPr>
      </p:sp>
      <p:pic>
        <p:nvPicPr>
          <p:cNvPr id="25" name="Image 4" descr="icons/database_white.png"/>
          <p:cNvPicPr>
            <a:picLocks noChangeAspect="1"/>
          </p:cNvPicPr>
          <p:nvPr/>
        </p:nvPicPr>
        <p:blipFill>
          <a:blip r:embed="rId7"/>
          <a:stretch>
            <a:fillRect/>
          </a:stretch>
        </p:blipFill>
        <p:spPr>
          <a:xfrm>
            <a:off x="10355580" y="2578608"/>
            <a:ext cx="512064" cy="512064"/>
          </a:xfrm>
          <a:prstGeom prst="rect">
            <a:avLst/>
          </a:prstGeom>
        </p:spPr>
      </p:pic>
      <p:sp>
        <p:nvSpPr>
          <p:cNvPr id="26" name="Text 19"/>
          <p:cNvSpPr/>
          <p:nvPr/>
        </p:nvSpPr>
        <p:spPr>
          <a:xfrm>
            <a:off x="9738360" y="3246120"/>
            <a:ext cx="1746504" cy="502920"/>
          </a:xfrm>
          <a:prstGeom prst="rect">
            <a:avLst/>
          </a:prstGeom>
          <a:noFill/>
          <a:ln/>
        </p:spPr>
        <p:txBody>
          <a:bodyPr wrap="square" lIns="0" tIns="0" rIns="0" bIns="0" rtlCol="0" anchor="ctr"/>
          <a:lstStyle/>
          <a:p>
            <a:pPr marL="0" indent="0" algn="ctr">
              <a:lnSpc>
                <a:spcPct val="105000"/>
              </a:lnSpc>
              <a:buNone/>
            </a:pPr>
            <a:r>
              <a:rPr lang="en-US" sz="1250" b="1" dirty="0">
                <a:solidFill>
                  <a:srgbClr val="FFFFFF"/>
                </a:solidFill>
                <a:latin typeface="Calibri" pitchFamily="34" charset="0"/>
                <a:ea typeface="Calibri" pitchFamily="34" charset="-122"/>
                <a:cs typeface="Calibri" pitchFamily="34" charset="-120"/>
              </a:rPr>
              <a:t>Result Saved &amp; Shown</a:t>
            </a:r>
            <a:endParaRPr lang="en-US" sz="1250" dirty="0"/>
          </a:p>
        </p:txBody>
      </p:sp>
      <p:sp>
        <p:nvSpPr>
          <p:cNvPr id="27" name="Text 20"/>
          <p:cNvSpPr/>
          <p:nvPr/>
        </p:nvSpPr>
        <p:spPr>
          <a:xfrm>
            <a:off x="9765792" y="3730752"/>
            <a:ext cx="1691640" cy="822960"/>
          </a:xfrm>
          <a:prstGeom prst="rect">
            <a:avLst/>
          </a:prstGeom>
          <a:noFill/>
          <a:ln/>
        </p:spPr>
        <p:txBody>
          <a:bodyPr wrap="square" lIns="0" tIns="0" rIns="0" bIns="0" rtlCol="0" anchor="t"/>
          <a:lstStyle/>
          <a:p>
            <a:pPr marL="0" indent="0" algn="ctr">
              <a:lnSpc>
                <a:spcPct val="110000"/>
              </a:lnSpc>
              <a:buNone/>
            </a:pPr>
            <a:r>
              <a:rPr lang="en-US" sz="950" dirty="0">
                <a:solidFill>
                  <a:srgbClr val="F0EAFA"/>
                </a:solidFill>
                <a:latin typeface="Calibri" pitchFamily="34" charset="0"/>
                <a:ea typeface="Calibri" pitchFamily="34" charset="-122"/>
                <a:cs typeface="Calibri" pitchFamily="34" charset="-120"/>
              </a:rPr>
              <a:t>Score displayed instantly and logged to history</a:t>
            </a:r>
            <a:endParaRPr lang="en-US" sz="950" dirty="0"/>
          </a:p>
        </p:txBody>
      </p:sp>
      <p:sp>
        <p:nvSpPr>
          <p:cNvPr id="28" name="Text 21"/>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6B5B95"/>
                </a:solidFill>
                <a:latin typeface="Calibri" pitchFamily="34" charset="0"/>
                <a:ea typeface="Calibri" pitchFamily="34" charset="-122"/>
                <a:cs typeface="Calibri" pitchFamily="34" charset="-120"/>
              </a:rPr>
              <a:t>AI-Powered Scam Website Detection System</a:t>
            </a:r>
            <a:endParaRPr lang="en-US" sz="1000" dirty="0"/>
          </a:p>
        </p:txBody>
      </p:sp>
      <p:sp>
        <p:nvSpPr>
          <p:cNvPr id="29" name="Text 22"/>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5B9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B7FC7"/>
                </a:solidFill>
                <a:latin typeface="Calibri" pitchFamily="34" charset="0"/>
                <a:ea typeface="Calibri" pitchFamily="34" charset="-122"/>
                <a:cs typeface="Calibri" pitchFamily="34" charset="-120"/>
              </a:rPr>
              <a:t>MODULE DESCRIPTION</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200" b="1" dirty="0">
                <a:solidFill>
                  <a:srgbClr val="3A2C55"/>
                </a:solidFill>
                <a:latin typeface="Cambria" pitchFamily="34" charset="0"/>
                <a:ea typeface="Cambria" pitchFamily="34" charset="-122"/>
                <a:cs typeface="Cambria" pitchFamily="34" charset="-120"/>
              </a:rPr>
              <a:t>Core Modules of the System</a:t>
            </a:r>
            <a:endParaRPr lang="en-US" sz="3200" dirty="0"/>
          </a:p>
        </p:txBody>
      </p:sp>
      <p:sp>
        <p:nvSpPr>
          <p:cNvPr id="4" name="Shape 2"/>
          <p:cNvSpPr/>
          <p:nvPr/>
        </p:nvSpPr>
        <p:spPr>
          <a:xfrm>
            <a:off x="548640" y="1965960"/>
            <a:ext cx="3611880" cy="1965960"/>
          </a:xfrm>
          <a:prstGeom prst="roundRect">
            <a:avLst>
              <a:gd name="adj" fmla="val 3721"/>
            </a:avLst>
          </a:prstGeom>
          <a:solidFill>
            <a:srgbClr val="F4EFFB"/>
          </a:solidFill>
          <a:ln/>
        </p:spPr>
      </p:sp>
      <p:sp>
        <p:nvSpPr>
          <p:cNvPr id="5" name="Shape 3"/>
          <p:cNvSpPr/>
          <p:nvPr/>
        </p:nvSpPr>
        <p:spPr>
          <a:xfrm>
            <a:off x="777240" y="2194560"/>
            <a:ext cx="502920" cy="502920"/>
          </a:xfrm>
          <a:prstGeom prst="ellipse">
            <a:avLst/>
          </a:prstGeom>
          <a:solidFill>
            <a:srgbClr val="4B2E83"/>
          </a:solidFill>
          <a:ln/>
        </p:spPr>
      </p:sp>
      <p:pic>
        <p:nvPicPr>
          <p:cNvPr id="6" name="Image 0" descr="icons/monitor_white.png"/>
          <p:cNvPicPr>
            <a:picLocks noChangeAspect="1"/>
          </p:cNvPicPr>
          <p:nvPr/>
        </p:nvPicPr>
        <p:blipFill>
          <a:blip r:embed="rId3"/>
          <a:stretch>
            <a:fillRect/>
          </a:stretch>
        </p:blipFill>
        <p:spPr>
          <a:xfrm>
            <a:off x="914400" y="2331720"/>
            <a:ext cx="228600" cy="228600"/>
          </a:xfrm>
          <a:prstGeom prst="rect">
            <a:avLst/>
          </a:prstGeom>
        </p:spPr>
      </p:pic>
      <p:sp>
        <p:nvSpPr>
          <p:cNvPr id="7" name="Text 4"/>
          <p:cNvSpPr/>
          <p:nvPr/>
        </p:nvSpPr>
        <p:spPr>
          <a:xfrm>
            <a:off x="777240" y="2807208"/>
            <a:ext cx="3154680" cy="365760"/>
          </a:xfrm>
          <a:prstGeom prst="rect">
            <a:avLst/>
          </a:prstGeom>
          <a:noFill/>
          <a:ln/>
        </p:spPr>
        <p:txBody>
          <a:bodyPr wrap="square" lIns="0" tIns="0" rIns="0" bIns="0" rtlCol="0" anchor="ctr"/>
          <a:lstStyle/>
          <a:p>
            <a:pPr marL="0" indent="0">
              <a:buNone/>
            </a:pPr>
            <a:r>
              <a:rPr lang="en-US" sz="1350" b="1" dirty="0">
                <a:solidFill>
                  <a:srgbClr val="3A2C55"/>
                </a:solidFill>
                <a:latin typeface="Calibri" pitchFamily="34" charset="0"/>
                <a:ea typeface="Calibri" pitchFamily="34" charset="-122"/>
                <a:cs typeface="Calibri" pitchFamily="34" charset="-120"/>
              </a:rPr>
              <a:t>Frontend Module</a:t>
            </a:r>
            <a:endParaRPr lang="en-US" sz="1350" dirty="0"/>
          </a:p>
        </p:txBody>
      </p:sp>
      <p:sp>
        <p:nvSpPr>
          <p:cNvPr id="8" name="Text 5"/>
          <p:cNvSpPr/>
          <p:nvPr/>
        </p:nvSpPr>
        <p:spPr>
          <a:xfrm>
            <a:off x="777240" y="3154680"/>
            <a:ext cx="3154680" cy="713232"/>
          </a:xfrm>
          <a:prstGeom prst="rect">
            <a:avLst/>
          </a:prstGeom>
          <a:noFill/>
          <a:ln/>
        </p:spPr>
        <p:txBody>
          <a:bodyPr wrap="square" lIns="0" tIns="0" rIns="0" bIns="0" rtlCol="0" anchor="t"/>
          <a:lstStyle/>
          <a:p>
            <a:pPr marL="0" indent="0">
              <a:lnSpc>
                <a:spcPct val="115000"/>
              </a:lnSpc>
              <a:buNone/>
            </a:pPr>
            <a:r>
              <a:rPr lang="en-US" sz="1000" dirty="0">
                <a:solidFill>
                  <a:srgbClr val="4A4160"/>
                </a:solidFill>
                <a:latin typeface="Calibri" pitchFamily="34" charset="0"/>
                <a:ea typeface="Calibri" pitchFamily="34" charset="-122"/>
                <a:cs typeface="Calibri" pitchFamily="34" charset="-120"/>
              </a:rPr>
              <a:t>HTML, CSS &amp; JavaScript interface where users submit a URL and view the trust-score report.</a:t>
            </a:r>
            <a:endParaRPr lang="en-US" sz="1000" dirty="0"/>
          </a:p>
        </p:txBody>
      </p:sp>
      <p:sp>
        <p:nvSpPr>
          <p:cNvPr id="9" name="Shape 6"/>
          <p:cNvSpPr/>
          <p:nvPr/>
        </p:nvSpPr>
        <p:spPr>
          <a:xfrm>
            <a:off x="4297680" y="1965960"/>
            <a:ext cx="3611880" cy="1965960"/>
          </a:xfrm>
          <a:prstGeom prst="roundRect">
            <a:avLst>
              <a:gd name="adj" fmla="val 3721"/>
            </a:avLst>
          </a:prstGeom>
          <a:solidFill>
            <a:srgbClr val="F4EFFB"/>
          </a:solidFill>
          <a:ln/>
        </p:spPr>
      </p:sp>
      <p:sp>
        <p:nvSpPr>
          <p:cNvPr id="10" name="Shape 7"/>
          <p:cNvSpPr/>
          <p:nvPr/>
        </p:nvSpPr>
        <p:spPr>
          <a:xfrm>
            <a:off x="4526280" y="2194560"/>
            <a:ext cx="502920" cy="502920"/>
          </a:xfrm>
          <a:prstGeom prst="ellipse">
            <a:avLst/>
          </a:prstGeom>
          <a:solidFill>
            <a:srgbClr val="4B2E83"/>
          </a:solidFill>
          <a:ln/>
        </p:spPr>
      </p:sp>
      <p:pic>
        <p:nvPicPr>
          <p:cNvPr id="11" name="Image 1" descr="icons/server_white.png"/>
          <p:cNvPicPr>
            <a:picLocks noChangeAspect="1"/>
          </p:cNvPicPr>
          <p:nvPr/>
        </p:nvPicPr>
        <p:blipFill>
          <a:blip r:embed="rId4"/>
          <a:stretch>
            <a:fillRect/>
          </a:stretch>
        </p:blipFill>
        <p:spPr>
          <a:xfrm>
            <a:off x="4663440" y="2331720"/>
            <a:ext cx="228600" cy="228600"/>
          </a:xfrm>
          <a:prstGeom prst="rect">
            <a:avLst/>
          </a:prstGeom>
        </p:spPr>
      </p:pic>
      <p:sp>
        <p:nvSpPr>
          <p:cNvPr id="12" name="Text 8"/>
          <p:cNvSpPr/>
          <p:nvPr/>
        </p:nvSpPr>
        <p:spPr>
          <a:xfrm>
            <a:off x="4526280" y="2807208"/>
            <a:ext cx="3154680" cy="365760"/>
          </a:xfrm>
          <a:prstGeom prst="rect">
            <a:avLst/>
          </a:prstGeom>
          <a:noFill/>
          <a:ln/>
        </p:spPr>
        <p:txBody>
          <a:bodyPr wrap="square" lIns="0" tIns="0" rIns="0" bIns="0" rtlCol="0" anchor="ctr"/>
          <a:lstStyle/>
          <a:p>
            <a:pPr marL="0" indent="0">
              <a:buNone/>
            </a:pPr>
            <a:r>
              <a:rPr lang="en-US" sz="1350" b="1" dirty="0">
                <a:solidFill>
                  <a:srgbClr val="3A2C55"/>
                </a:solidFill>
                <a:latin typeface="Calibri" pitchFamily="34" charset="0"/>
                <a:ea typeface="Calibri" pitchFamily="34" charset="-122"/>
                <a:cs typeface="Calibri" pitchFamily="34" charset="-120"/>
              </a:rPr>
              <a:t>Backend / API Module</a:t>
            </a:r>
            <a:endParaRPr lang="en-US" sz="1350" dirty="0"/>
          </a:p>
        </p:txBody>
      </p:sp>
      <p:sp>
        <p:nvSpPr>
          <p:cNvPr id="13" name="Text 9"/>
          <p:cNvSpPr/>
          <p:nvPr/>
        </p:nvSpPr>
        <p:spPr>
          <a:xfrm>
            <a:off x="4526280" y="3154680"/>
            <a:ext cx="3154680" cy="713232"/>
          </a:xfrm>
          <a:prstGeom prst="rect">
            <a:avLst/>
          </a:prstGeom>
          <a:noFill/>
          <a:ln/>
        </p:spPr>
        <p:txBody>
          <a:bodyPr wrap="square" lIns="0" tIns="0" rIns="0" bIns="0" rtlCol="0" anchor="t"/>
          <a:lstStyle/>
          <a:p>
            <a:pPr marL="0" indent="0">
              <a:lnSpc>
                <a:spcPct val="115000"/>
              </a:lnSpc>
              <a:buNone/>
            </a:pPr>
            <a:r>
              <a:rPr lang="en-US" sz="1000" dirty="0">
                <a:solidFill>
                  <a:srgbClr val="4A4160"/>
                </a:solidFill>
                <a:latin typeface="Calibri" pitchFamily="34" charset="0"/>
                <a:ea typeface="Calibri" pitchFamily="34" charset="-122"/>
                <a:cs typeface="Calibri" pitchFamily="34" charset="-120"/>
              </a:rPr>
              <a:t>Node.js &amp; Express.js server that receives requests, orchestrates checks, and returns results.</a:t>
            </a:r>
            <a:endParaRPr lang="en-US" sz="1000" dirty="0"/>
          </a:p>
        </p:txBody>
      </p:sp>
      <p:sp>
        <p:nvSpPr>
          <p:cNvPr id="14" name="Shape 10"/>
          <p:cNvSpPr/>
          <p:nvPr/>
        </p:nvSpPr>
        <p:spPr>
          <a:xfrm>
            <a:off x="8046720" y="1965960"/>
            <a:ext cx="3611880" cy="1965960"/>
          </a:xfrm>
          <a:prstGeom prst="roundRect">
            <a:avLst>
              <a:gd name="adj" fmla="val 3721"/>
            </a:avLst>
          </a:prstGeom>
          <a:solidFill>
            <a:srgbClr val="F4EFFB"/>
          </a:solidFill>
          <a:ln/>
        </p:spPr>
      </p:sp>
      <p:sp>
        <p:nvSpPr>
          <p:cNvPr id="15" name="Shape 11"/>
          <p:cNvSpPr/>
          <p:nvPr/>
        </p:nvSpPr>
        <p:spPr>
          <a:xfrm>
            <a:off x="8275320" y="2194560"/>
            <a:ext cx="502920" cy="502920"/>
          </a:xfrm>
          <a:prstGeom prst="ellipse">
            <a:avLst/>
          </a:prstGeom>
          <a:solidFill>
            <a:srgbClr val="4B2E83"/>
          </a:solidFill>
          <a:ln/>
        </p:spPr>
      </p:sp>
      <p:pic>
        <p:nvPicPr>
          <p:cNvPr id="16" name="Image 2" descr="icons/search_white.png"/>
          <p:cNvPicPr>
            <a:picLocks noChangeAspect="1"/>
          </p:cNvPicPr>
          <p:nvPr/>
        </p:nvPicPr>
        <p:blipFill>
          <a:blip r:embed="rId5"/>
          <a:stretch>
            <a:fillRect/>
          </a:stretch>
        </p:blipFill>
        <p:spPr>
          <a:xfrm>
            <a:off x="8412480" y="2331720"/>
            <a:ext cx="228600" cy="228600"/>
          </a:xfrm>
          <a:prstGeom prst="rect">
            <a:avLst/>
          </a:prstGeom>
        </p:spPr>
      </p:pic>
      <p:sp>
        <p:nvSpPr>
          <p:cNvPr id="17" name="Text 12"/>
          <p:cNvSpPr/>
          <p:nvPr/>
        </p:nvSpPr>
        <p:spPr>
          <a:xfrm>
            <a:off x="8275320" y="2807208"/>
            <a:ext cx="3154680" cy="365760"/>
          </a:xfrm>
          <a:prstGeom prst="rect">
            <a:avLst/>
          </a:prstGeom>
          <a:noFill/>
          <a:ln/>
        </p:spPr>
        <p:txBody>
          <a:bodyPr wrap="square" lIns="0" tIns="0" rIns="0" bIns="0" rtlCol="0" anchor="ctr"/>
          <a:lstStyle/>
          <a:p>
            <a:pPr marL="0" indent="0">
              <a:buNone/>
            </a:pPr>
            <a:r>
              <a:rPr lang="en-US" sz="1350" b="1" dirty="0">
                <a:solidFill>
                  <a:srgbClr val="3A2C55"/>
                </a:solidFill>
                <a:latin typeface="Calibri" pitchFamily="34" charset="0"/>
                <a:ea typeface="Calibri" pitchFamily="34" charset="-122"/>
                <a:cs typeface="Calibri" pitchFamily="34" charset="-120"/>
              </a:rPr>
              <a:t>Scan Engine Module</a:t>
            </a:r>
            <a:endParaRPr lang="en-US" sz="1350" dirty="0"/>
          </a:p>
        </p:txBody>
      </p:sp>
      <p:sp>
        <p:nvSpPr>
          <p:cNvPr id="18" name="Text 13"/>
          <p:cNvSpPr/>
          <p:nvPr/>
        </p:nvSpPr>
        <p:spPr>
          <a:xfrm>
            <a:off x="8275320" y="3154680"/>
            <a:ext cx="3154680" cy="713232"/>
          </a:xfrm>
          <a:prstGeom prst="rect">
            <a:avLst/>
          </a:prstGeom>
          <a:noFill/>
          <a:ln/>
        </p:spPr>
        <p:txBody>
          <a:bodyPr wrap="square" lIns="0" tIns="0" rIns="0" bIns="0" rtlCol="0" anchor="t"/>
          <a:lstStyle/>
          <a:p>
            <a:pPr marL="0" indent="0">
              <a:lnSpc>
                <a:spcPct val="115000"/>
              </a:lnSpc>
              <a:buNone/>
            </a:pPr>
            <a:r>
              <a:rPr lang="en-US" sz="1000" dirty="0">
                <a:solidFill>
                  <a:srgbClr val="4A4160"/>
                </a:solidFill>
                <a:latin typeface="Calibri" pitchFamily="34" charset="0"/>
                <a:ea typeface="Calibri" pitchFamily="34" charset="-122"/>
                <a:cs typeface="Calibri" pitchFamily="34" charset="-120"/>
              </a:rPr>
              <a:t>Runs HTTPS validation, domain lookups, and suspicious URL-pattern matching.</a:t>
            </a:r>
            <a:endParaRPr lang="en-US" sz="1000" dirty="0"/>
          </a:p>
        </p:txBody>
      </p:sp>
      <p:sp>
        <p:nvSpPr>
          <p:cNvPr id="19" name="Shape 14"/>
          <p:cNvSpPr/>
          <p:nvPr/>
        </p:nvSpPr>
        <p:spPr>
          <a:xfrm>
            <a:off x="548640" y="4114800"/>
            <a:ext cx="3611880" cy="1965960"/>
          </a:xfrm>
          <a:prstGeom prst="roundRect">
            <a:avLst>
              <a:gd name="adj" fmla="val 3721"/>
            </a:avLst>
          </a:prstGeom>
          <a:solidFill>
            <a:srgbClr val="F4EFFB"/>
          </a:solidFill>
          <a:ln/>
        </p:spPr>
      </p:sp>
      <p:sp>
        <p:nvSpPr>
          <p:cNvPr id="20" name="Shape 15"/>
          <p:cNvSpPr/>
          <p:nvPr/>
        </p:nvSpPr>
        <p:spPr>
          <a:xfrm>
            <a:off x="777240" y="4343400"/>
            <a:ext cx="502920" cy="502920"/>
          </a:xfrm>
          <a:prstGeom prst="ellipse">
            <a:avLst/>
          </a:prstGeom>
          <a:solidFill>
            <a:srgbClr val="4B2E83"/>
          </a:solidFill>
          <a:ln/>
        </p:spPr>
      </p:sp>
      <p:pic>
        <p:nvPicPr>
          <p:cNvPr id="21" name="Image 3" descr="icons/cpu_white.png"/>
          <p:cNvPicPr>
            <a:picLocks noChangeAspect="1"/>
          </p:cNvPicPr>
          <p:nvPr/>
        </p:nvPicPr>
        <p:blipFill>
          <a:blip r:embed="rId6"/>
          <a:stretch>
            <a:fillRect/>
          </a:stretch>
        </p:blipFill>
        <p:spPr>
          <a:xfrm>
            <a:off x="914400" y="4480560"/>
            <a:ext cx="228600" cy="228600"/>
          </a:xfrm>
          <a:prstGeom prst="rect">
            <a:avLst/>
          </a:prstGeom>
        </p:spPr>
      </p:pic>
      <p:sp>
        <p:nvSpPr>
          <p:cNvPr id="22" name="Text 16"/>
          <p:cNvSpPr/>
          <p:nvPr/>
        </p:nvSpPr>
        <p:spPr>
          <a:xfrm>
            <a:off x="777240" y="4956048"/>
            <a:ext cx="3154680" cy="365760"/>
          </a:xfrm>
          <a:prstGeom prst="rect">
            <a:avLst/>
          </a:prstGeom>
          <a:noFill/>
          <a:ln/>
        </p:spPr>
        <p:txBody>
          <a:bodyPr wrap="square" lIns="0" tIns="0" rIns="0" bIns="0" rtlCol="0" anchor="ctr"/>
          <a:lstStyle/>
          <a:p>
            <a:pPr marL="0" indent="0">
              <a:buNone/>
            </a:pPr>
            <a:r>
              <a:rPr lang="en-US" sz="1350" b="1" dirty="0">
                <a:solidFill>
                  <a:srgbClr val="3A2C55"/>
                </a:solidFill>
                <a:latin typeface="Calibri" pitchFamily="34" charset="0"/>
                <a:ea typeface="Calibri" pitchFamily="34" charset="-122"/>
                <a:cs typeface="Calibri" pitchFamily="34" charset="-120"/>
              </a:rPr>
              <a:t>AI Integration Module</a:t>
            </a:r>
            <a:endParaRPr lang="en-US" sz="1350" dirty="0"/>
          </a:p>
        </p:txBody>
      </p:sp>
      <p:sp>
        <p:nvSpPr>
          <p:cNvPr id="23" name="Text 17"/>
          <p:cNvSpPr/>
          <p:nvPr/>
        </p:nvSpPr>
        <p:spPr>
          <a:xfrm>
            <a:off x="777240" y="5303520"/>
            <a:ext cx="3154680" cy="713232"/>
          </a:xfrm>
          <a:prstGeom prst="rect">
            <a:avLst/>
          </a:prstGeom>
          <a:noFill/>
          <a:ln/>
        </p:spPr>
        <p:txBody>
          <a:bodyPr wrap="square" lIns="0" tIns="0" rIns="0" bIns="0" rtlCol="0" anchor="t"/>
          <a:lstStyle/>
          <a:p>
            <a:pPr marL="0" indent="0">
              <a:lnSpc>
                <a:spcPct val="115000"/>
              </a:lnSpc>
              <a:buNone/>
            </a:pPr>
            <a:r>
              <a:rPr lang="en-US" sz="1000" dirty="0">
                <a:solidFill>
                  <a:srgbClr val="4A4160"/>
                </a:solidFill>
                <a:latin typeface="Calibri" pitchFamily="34" charset="0"/>
                <a:ea typeface="Calibri" pitchFamily="34" charset="-122"/>
                <a:cs typeface="Calibri" pitchFamily="34" charset="-120"/>
              </a:rPr>
              <a:t>Optionally calls the Gemini API to add content-level context to the trust score.</a:t>
            </a:r>
            <a:endParaRPr lang="en-US" sz="1000" dirty="0"/>
          </a:p>
        </p:txBody>
      </p:sp>
      <p:sp>
        <p:nvSpPr>
          <p:cNvPr id="24" name="Shape 18"/>
          <p:cNvSpPr/>
          <p:nvPr/>
        </p:nvSpPr>
        <p:spPr>
          <a:xfrm>
            <a:off x="4297680" y="4114800"/>
            <a:ext cx="3611880" cy="1965960"/>
          </a:xfrm>
          <a:prstGeom prst="roundRect">
            <a:avLst>
              <a:gd name="adj" fmla="val 3721"/>
            </a:avLst>
          </a:prstGeom>
          <a:solidFill>
            <a:srgbClr val="F4EFFB"/>
          </a:solidFill>
          <a:ln/>
        </p:spPr>
      </p:sp>
      <p:sp>
        <p:nvSpPr>
          <p:cNvPr id="25" name="Shape 19"/>
          <p:cNvSpPr/>
          <p:nvPr/>
        </p:nvSpPr>
        <p:spPr>
          <a:xfrm>
            <a:off x="4526280" y="4343400"/>
            <a:ext cx="502920" cy="502920"/>
          </a:xfrm>
          <a:prstGeom prst="ellipse">
            <a:avLst/>
          </a:prstGeom>
          <a:solidFill>
            <a:srgbClr val="4B2E83"/>
          </a:solidFill>
          <a:ln/>
        </p:spPr>
      </p:sp>
      <p:pic>
        <p:nvPicPr>
          <p:cNvPr id="26" name="Image 4" descr="icons/database_white.png"/>
          <p:cNvPicPr>
            <a:picLocks noChangeAspect="1"/>
          </p:cNvPicPr>
          <p:nvPr/>
        </p:nvPicPr>
        <p:blipFill>
          <a:blip r:embed="rId7"/>
          <a:stretch>
            <a:fillRect/>
          </a:stretch>
        </p:blipFill>
        <p:spPr>
          <a:xfrm>
            <a:off x="4663440" y="4480560"/>
            <a:ext cx="228600" cy="228600"/>
          </a:xfrm>
          <a:prstGeom prst="rect">
            <a:avLst/>
          </a:prstGeom>
        </p:spPr>
      </p:pic>
      <p:sp>
        <p:nvSpPr>
          <p:cNvPr id="27" name="Text 20"/>
          <p:cNvSpPr/>
          <p:nvPr/>
        </p:nvSpPr>
        <p:spPr>
          <a:xfrm>
            <a:off x="4526280" y="4956048"/>
            <a:ext cx="3154680" cy="365760"/>
          </a:xfrm>
          <a:prstGeom prst="rect">
            <a:avLst/>
          </a:prstGeom>
          <a:noFill/>
          <a:ln/>
        </p:spPr>
        <p:txBody>
          <a:bodyPr wrap="square" lIns="0" tIns="0" rIns="0" bIns="0" rtlCol="0" anchor="ctr"/>
          <a:lstStyle/>
          <a:p>
            <a:pPr marL="0" indent="0">
              <a:buNone/>
            </a:pPr>
            <a:r>
              <a:rPr lang="en-US" sz="1350" b="1" dirty="0">
                <a:solidFill>
                  <a:srgbClr val="3A2C55"/>
                </a:solidFill>
                <a:latin typeface="Calibri" pitchFamily="34" charset="0"/>
                <a:ea typeface="Calibri" pitchFamily="34" charset="-122"/>
                <a:cs typeface="Calibri" pitchFamily="34" charset="-120"/>
              </a:rPr>
              <a:t>Database Module</a:t>
            </a:r>
            <a:endParaRPr lang="en-US" sz="1350" dirty="0"/>
          </a:p>
        </p:txBody>
      </p:sp>
      <p:sp>
        <p:nvSpPr>
          <p:cNvPr id="28" name="Text 21"/>
          <p:cNvSpPr/>
          <p:nvPr/>
        </p:nvSpPr>
        <p:spPr>
          <a:xfrm>
            <a:off x="4526280" y="5303520"/>
            <a:ext cx="3154680" cy="713232"/>
          </a:xfrm>
          <a:prstGeom prst="rect">
            <a:avLst/>
          </a:prstGeom>
          <a:noFill/>
          <a:ln/>
        </p:spPr>
        <p:txBody>
          <a:bodyPr wrap="square" lIns="0" tIns="0" rIns="0" bIns="0" rtlCol="0" anchor="t"/>
          <a:lstStyle/>
          <a:p>
            <a:pPr marL="0" indent="0">
              <a:lnSpc>
                <a:spcPct val="115000"/>
              </a:lnSpc>
              <a:buNone/>
            </a:pPr>
            <a:r>
              <a:rPr lang="en-US" sz="1000" dirty="0">
                <a:solidFill>
                  <a:srgbClr val="4A4160"/>
                </a:solidFill>
                <a:latin typeface="Calibri" pitchFamily="34" charset="0"/>
                <a:ea typeface="Calibri" pitchFamily="34" charset="-122"/>
                <a:cs typeface="Calibri" pitchFamily="34" charset="-120"/>
              </a:rPr>
              <a:t>MongoDB collection that stores every scan and its result as searchable history.</a:t>
            </a:r>
            <a:endParaRPr lang="en-US" sz="1000" dirty="0"/>
          </a:p>
        </p:txBody>
      </p:sp>
      <p:sp>
        <p:nvSpPr>
          <p:cNvPr id="29" name="Shape 22"/>
          <p:cNvSpPr/>
          <p:nvPr/>
        </p:nvSpPr>
        <p:spPr>
          <a:xfrm>
            <a:off x="8046720" y="4114800"/>
            <a:ext cx="3611880" cy="1965960"/>
          </a:xfrm>
          <a:prstGeom prst="roundRect">
            <a:avLst>
              <a:gd name="adj" fmla="val 3721"/>
            </a:avLst>
          </a:prstGeom>
          <a:solidFill>
            <a:srgbClr val="F4EFFB"/>
          </a:solidFill>
          <a:ln/>
        </p:spPr>
      </p:sp>
      <p:sp>
        <p:nvSpPr>
          <p:cNvPr id="30" name="Shape 23"/>
          <p:cNvSpPr/>
          <p:nvPr/>
        </p:nvSpPr>
        <p:spPr>
          <a:xfrm>
            <a:off x="8275320" y="4343400"/>
            <a:ext cx="502920" cy="502920"/>
          </a:xfrm>
          <a:prstGeom prst="ellipse">
            <a:avLst/>
          </a:prstGeom>
          <a:solidFill>
            <a:srgbClr val="4B2E83"/>
          </a:solidFill>
          <a:ln/>
        </p:spPr>
      </p:sp>
      <p:pic>
        <p:nvPicPr>
          <p:cNvPr id="31" name="Image 5" descr="icons/shield_white.png"/>
          <p:cNvPicPr>
            <a:picLocks noChangeAspect="1"/>
          </p:cNvPicPr>
          <p:nvPr/>
        </p:nvPicPr>
        <p:blipFill>
          <a:blip r:embed="rId8"/>
          <a:stretch>
            <a:fillRect/>
          </a:stretch>
        </p:blipFill>
        <p:spPr>
          <a:xfrm>
            <a:off x="8412480" y="4480560"/>
            <a:ext cx="228600" cy="228600"/>
          </a:xfrm>
          <a:prstGeom prst="rect">
            <a:avLst/>
          </a:prstGeom>
        </p:spPr>
      </p:pic>
      <p:sp>
        <p:nvSpPr>
          <p:cNvPr id="32" name="Text 24"/>
          <p:cNvSpPr/>
          <p:nvPr/>
        </p:nvSpPr>
        <p:spPr>
          <a:xfrm>
            <a:off x="8275320" y="4956048"/>
            <a:ext cx="3154680" cy="365760"/>
          </a:xfrm>
          <a:prstGeom prst="rect">
            <a:avLst/>
          </a:prstGeom>
          <a:noFill/>
          <a:ln/>
        </p:spPr>
        <p:txBody>
          <a:bodyPr wrap="square" lIns="0" tIns="0" rIns="0" bIns="0" rtlCol="0" anchor="ctr"/>
          <a:lstStyle/>
          <a:p>
            <a:pPr marL="0" indent="0">
              <a:buNone/>
            </a:pPr>
            <a:r>
              <a:rPr lang="en-US" sz="1350" b="1" dirty="0">
                <a:solidFill>
                  <a:srgbClr val="3A2C55"/>
                </a:solidFill>
                <a:latin typeface="Calibri" pitchFamily="34" charset="0"/>
                <a:ea typeface="Calibri" pitchFamily="34" charset="-122"/>
                <a:cs typeface="Calibri" pitchFamily="34" charset="-120"/>
              </a:rPr>
              <a:t>Scoring Module</a:t>
            </a:r>
            <a:endParaRPr lang="en-US" sz="1350" dirty="0"/>
          </a:p>
        </p:txBody>
      </p:sp>
      <p:sp>
        <p:nvSpPr>
          <p:cNvPr id="33" name="Text 25"/>
          <p:cNvSpPr/>
          <p:nvPr/>
        </p:nvSpPr>
        <p:spPr>
          <a:xfrm>
            <a:off x="8275320" y="5303520"/>
            <a:ext cx="3154680" cy="713232"/>
          </a:xfrm>
          <a:prstGeom prst="rect">
            <a:avLst/>
          </a:prstGeom>
          <a:noFill/>
          <a:ln/>
        </p:spPr>
        <p:txBody>
          <a:bodyPr wrap="square" lIns="0" tIns="0" rIns="0" bIns="0" rtlCol="0" anchor="t"/>
          <a:lstStyle/>
          <a:p>
            <a:pPr marL="0" indent="0">
              <a:lnSpc>
                <a:spcPct val="115000"/>
              </a:lnSpc>
              <a:buNone/>
            </a:pPr>
            <a:r>
              <a:rPr lang="en-US" sz="1000" dirty="0">
                <a:solidFill>
                  <a:srgbClr val="4A4160"/>
                </a:solidFill>
                <a:latin typeface="Calibri" pitchFamily="34" charset="0"/>
                <a:ea typeface="Calibri" pitchFamily="34" charset="-122"/>
                <a:cs typeface="Calibri" pitchFamily="34" charset="-120"/>
              </a:rPr>
              <a:t>Combines all signals using weighted rules into one final trust score, 0 – 100.</a:t>
            </a:r>
            <a:endParaRPr lang="en-US" sz="1000" dirty="0"/>
          </a:p>
        </p:txBody>
      </p:sp>
      <p:sp>
        <p:nvSpPr>
          <p:cNvPr id="34" name="Text 26"/>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6B5B95"/>
                </a:solidFill>
                <a:latin typeface="Calibri" pitchFamily="34" charset="0"/>
                <a:ea typeface="Calibri" pitchFamily="34" charset="-122"/>
                <a:cs typeface="Calibri" pitchFamily="34" charset="-120"/>
              </a:rPr>
              <a:t>AI-Powered Scam Website Detection System</a:t>
            </a:r>
            <a:endParaRPr lang="en-US" sz="1000" dirty="0"/>
          </a:p>
        </p:txBody>
      </p:sp>
      <p:sp>
        <p:nvSpPr>
          <p:cNvPr id="35" name="Text 27"/>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5B9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B7FC7"/>
                </a:solidFill>
                <a:latin typeface="Calibri" pitchFamily="34" charset="0"/>
                <a:ea typeface="Calibri" pitchFamily="34" charset="-122"/>
                <a:cs typeface="Calibri" pitchFamily="34" charset="-120"/>
              </a:rPr>
              <a:t>CONFIGURATION</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200" b="1" dirty="0">
                <a:solidFill>
                  <a:srgbClr val="3A2C55"/>
                </a:solidFill>
                <a:latin typeface="Cambria" pitchFamily="34" charset="0"/>
                <a:ea typeface="Cambria" pitchFamily="34" charset="-122"/>
                <a:cs typeface="Cambria" pitchFamily="34" charset="-120"/>
              </a:rPr>
              <a:t>System &amp; Software Configuration</a:t>
            </a:r>
            <a:endParaRPr lang="en-US" sz="3200" dirty="0"/>
          </a:p>
        </p:txBody>
      </p:sp>
      <p:sp>
        <p:nvSpPr>
          <p:cNvPr id="4" name="Shape 2"/>
          <p:cNvSpPr/>
          <p:nvPr/>
        </p:nvSpPr>
        <p:spPr>
          <a:xfrm>
            <a:off x="548640" y="1965960"/>
            <a:ext cx="5394960" cy="4160520"/>
          </a:xfrm>
          <a:prstGeom prst="roundRect">
            <a:avLst>
              <a:gd name="adj" fmla="val 1758"/>
            </a:avLst>
          </a:prstGeom>
          <a:solidFill>
            <a:srgbClr val="F4EFFB"/>
          </a:solidFill>
          <a:ln/>
        </p:spPr>
      </p:sp>
      <p:sp>
        <p:nvSpPr>
          <p:cNvPr id="5" name="Shape 3"/>
          <p:cNvSpPr/>
          <p:nvPr/>
        </p:nvSpPr>
        <p:spPr>
          <a:xfrm>
            <a:off x="822960" y="2212848"/>
            <a:ext cx="502920" cy="502920"/>
          </a:xfrm>
          <a:prstGeom prst="ellipse">
            <a:avLst/>
          </a:prstGeom>
          <a:solidFill>
            <a:srgbClr val="4B2E83"/>
          </a:solidFill>
          <a:ln/>
        </p:spPr>
      </p:sp>
      <p:pic>
        <p:nvPicPr>
          <p:cNvPr id="6" name="Image 0" descr="icons/hardrive_white.png"/>
          <p:cNvPicPr>
            <a:picLocks noChangeAspect="1"/>
          </p:cNvPicPr>
          <p:nvPr/>
        </p:nvPicPr>
        <p:blipFill>
          <a:blip r:embed="rId3"/>
          <a:stretch>
            <a:fillRect/>
          </a:stretch>
        </p:blipFill>
        <p:spPr>
          <a:xfrm>
            <a:off x="960120" y="2350008"/>
            <a:ext cx="228600" cy="228600"/>
          </a:xfrm>
          <a:prstGeom prst="rect">
            <a:avLst/>
          </a:prstGeom>
        </p:spPr>
      </p:pic>
      <p:sp>
        <p:nvSpPr>
          <p:cNvPr id="7" name="Text 4"/>
          <p:cNvSpPr/>
          <p:nvPr/>
        </p:nvSpPr>
        <p:spPr>
          <a:xfrm>
            <a:off x="1463040" y="2212848"/>
            <a:ext cx="4114800" cy="502920"/>
          </a:xfrm>
          <a:prstGeom prst="rect">
            <a:avLst/>
          </a:prstGeom>
          <a:noFill/>
          <a:ln/>
        </p:spPr>
        <p:txBody>
          <a:bodyPr wrap="square" lIns="0" tIns="0" rIns="0" bIns="0" rtlCol="0" anchor="ctr"/>
          <a:lstStyle/>
          <a:p>
            <a:pPr marL="0" indent="0">
              <a:buNone/>
            </a:pPr>
            <a:r>
              <a:rPr lang="en-US" sz="1600" b="1" dirty="0">
                <a:solidFill>
                  <a:srgbClr val="4B2E83"/>
                </a:solidFill>
                <a:latin typeface="Cambria" pitchFamily="34" charset="0"/>
                <a:ea typeface="Cambria" pitchFamily="34" charset="-122"/>
                <a:cs typeface="Cambria" pitchFamily="34" charset="-120"/>
              </a:rPr>
              <a:t>System Configuration</a:t>
            </a:r>
            <a:endParaRPr lang="en-US" sz="1600" dirty="0"/>
          </a:p>
        </p:txBody>
      </p:sp>
      <p:sp>
        <p:nvSpPr>
          <p:cNvPr id="8" name="Text 5"/>
          <p:cNvSpPr/>
          <p:nvPr/>
        </p:nvSpPr>
        <p:spPr>
          <a:xfrm>
            <a:off x="868680" y="2926080"/>
            <a:ext cx="1920240" cy="457200"/>
          </a:xfrm>
          <a:prstGeom prst="rect">
            <a:avLst/>
          </a:prstGeom>
          <a:noFill/>
          <a:ln/>
        </p:spPr>
        <p:txBody>
          <a:bodyPr wrap="square" lIns="0" tIns="0" rIns="0" bIns="0" rtlCol="0" anchor="ctr"/>
          <a:lstStyle/>
          <a:p>
            <a:pPr marL="0" indent="0">
              <a:buNone/>
            </a:pPr>
            <a:r>
              <a:rPr lang="en-US" sz="1150" b="1" dirty="0">
                <a:solidFill>
                  <a:srgbClr val="3A2C55"/>
                </a:solidFill>
                <a:latin typeface="Calibri" pitchFamily="34" charset="0"/>
                <a:ea typeface="Calibri" pitchFamily="34" charset="-122"/>
                <a:cs typeface="Calibri" pitchFamily="34" charset="-120"/>
              </a:rPr>
              <a:t>Processor</a:t>
            </a:r>
            <a:endParaRPr lang="en-US" sz="1150" dirty="0"/>
          </a:p>
        </p:txBody>
      </p:sp>
      <p:sp>
        <p:nvSpPr>
          <p:cNvPr id="9" name="Text 6"/>
          <p:cNvSpPr/>
          <p:nvPr/>
        </p:nvSpPr>
        <p:spPr>
          <a:xfrm>
            <a:off x="2788920" y="2926080"/>
            <a:ext cx="2880360" cy="457200"/>
          </a:xfrm>
          <a:prstGeom prst="rect">
            <a:avLst/>
          </a:prstGeom>
          <a:noFill/>
          <a:ln/>
        </p:spPr>
        <p:txBody>
          <a:bodyPr wrap="square" lIns="0" tIns="0" rIns="0" bIns="0" rtlCol="0" anchor="ctr"/>
          <a:lstStyle/>
          <a:p>
            <a:pPr marL="0" indent="0">
              <a:buNone/>
            </a:pPr>
            <a:r>
              <a:rPr lang="en-US" sz="1100" dirty="0">
                <a:solidFill>
                  <a:srgbClr val="4A4160"/>
                </a:solidFill>
                <a:latin typeface="Calibri" pitchFamily="34" charset="0"/>
                <a:ea typeface="Calibri" pitchFamily="34" charset="-122"/>
                <a:cs typeface="Calibri" pitchFamily="34" charset="-120"/>
              </a:rPr>
              <a:t>Intel i3 / Ryzen 3 or higher</a:t>
            </a:r>
            <a:endParaRPr lang="en-US" sz="1100" dirty="0"/>
          </a:p>
        </p:txBody>
      </p:sp>
      <p:sp>
        <p:nvSpPr>
          <p:cNvPr id="10" name="Shape 7"/>
          <p:cNvSpPr/>
          <p:nvPr/>
        </p:nvSpPr>
        <p:spPr>
          <a:xfrm>
            <a:off x="868680" y="3383280"/>
            <a:ext cx="4754880" cy="0"/>
          </a:xfrm>
          <a:prstGeom prst="line">
            <a:avLst/>
          </a:prstGeom>
          <a:noFill/>
          <a:ln w="9525">
            <a:solidFill>
              <a:srgbClr val="D9CCF0"/>
            </a:solidFill>
            <a:prstDash val="solid"/>
          </a:ln>
        </p:spPr>
      </p:sp>
      <p:sp>
        <p:nvSpPr>
          <p:cNvPr id="11" name="Text 8"/>
          <p:cNvSpPr/>
          <p:nvPr/>
        </p:nvSpPr>
        <p:spPr>
          <a:xfrm>
            <a:off x="868680" y="3438144"/>
            <a:ext cx="1920240" cy="457200"/>
          </a:xfrm>
          <a:prstGeom prst="rect">
            <a:avLst/>
          </a:prstGeom>
          <a:noFill/>
          <a:ln/>
        </p:spPr>
        <p:txBody>
          <a:bodyPr wrap="square" lIns="0" tIns="0" rIns="0" bIns="0" rtlCol="0" anchor="ctr"/>
          <a:lstStyle/>
          <a:p>
            <a:pPr marL="0" indent="0">
              <a:buNone/>
            </a:pPr>
            <a:r>
              <a:rPr lang="en-US" sz="1150" b="1" dirty="0">
                <a:solidFill>
                  <a:srgbClr val="3A2C55"/>
                </a:solidFill>
                <a:latin typeface="Calibri" pitchFamily="34" charset="0"/>
                <a:ea typeface="Calibri" pitchFamily="34" charset="-122"/>
                <a:cs typeface="Calibri" pitchFamily="34" charset="-120"/>
              </a:rPr>
              <a:t>RAM</a:t>
            </a:r>
            <a:endParaRPr lang="en-US" sz="1150" dirty="0"/>
          </a:p>
        </p:txBody>
      </p:sp>
      <p:sp>
        <p:nvSpPr>
          <p:cNvPr id="12" name="Text 9"/>
          <p:cNvSpPr/>
          <p:nvPr/>
        </p:nvSpPr>
        <p:spPr>
          <a:xfrm>
            <a:off x="2788920" y="3438144"/>
            <a:ext cx="2880360" cy="457200"/>
          </a:xfrm>
          <a:prstGeom prst="rect">
            <a:avLst/>
          </a:prstGeom>
          <a:noFill/>
          <a:ln/>
        </p:spPr>
        <p:txBody>
          <a:bodyPr wrap="square" lIns="0" tIns="0" rIns="0" bIns="0" rtlCol="0" anchor="ctr"/>
          <a:lstStyle/>
          <a:p>
            <a:pPr marL="0" indent="0">
              <a:buNone/>
            </a:pPr>
            <a:r>
              <a:rPr lang="en-US" sz="1100" dirty="0">
                <a:solidFill>
                  <a:srgbClr val="4A4160"/>
                </a:solidFill>
                <a:latin typeface="Calibri" pitchFamily="34" charset="0"/>
                <a:ea typeface="Calibri" pitchFamily="34" charset="-122"/>
                <a:cs typeface="Calibri" pitchFamily="34" charset="-120"/>
              </a:rPr>
              <a:t>8 GB minimum </a:t>
            </a:r>
            <a:endParaRPr lang="en-US" sz="1100" dirty="0"/>
          </a:p>
        </p:txBody>
      </p:sp>
      <p:sp>
        <p:nvSpPr>
          <p:cNvPr id="13" name="Shape 10"/>
          <p:cNvSpPr/>
          <p:nvPr/>
        </p:nvSpPr>
        <p:spPr>
          <a:xfrm>
            <a:off x="868680" y="3895344"/>
            <a:ext cx="4754880" cy="0"/>
          </a:xfrm>
          <a:prstGeom prst="line">
            <a:avLst/>
          </a:prstGeom>
          <a:noFill/>
          <a:ln w="9525">
            <a:solidFill>
              <a:srgbClr val="D9CCF0"/>
            </a:solidFill>
            <a:prstDash val="solid"/>
          </a:ln>
        </p:spPr>
      </p:sp>
      <p:sp>
        <p:nvSpPr>
          <p:cNvPr id="14" name="Text 11"/>
          <p:cNvSpPr/>
          <p:nvPr/>
        </p:nvSpPr>
        <p:spPr>
          <a:xfrm>
            <a:off x="868680" y="3950208"/>
            <a:ext cx="1920240" cy="457200"/>
          </a:xfrm>
          <a:prstGeom prst="rect">
            <a:avLst/>
          </a:prstGeom>
          <a:noFill/>
          <a:ln/>
        </p:spPr>
        <p:txBody>
          <a:bodyPr wrap="square" lIns="0" tIns="0" rIns="0" bIns="0" rtlCol="0" anchor="ctr"/>
          <a:lstStyle/>
          <a:p>
            <a:pPr marL="0" indent="0">
              <a:buNone/>
            </a:pPr>
            <a:r>
              <a:rPr lang="en-US" sz="1150" b="1" dirty="0">
                <a:solidFill>
                  <a:srgbClr val="3A2C55"/>
                </a:solidFill>
                <a:latin typeface="Calibri" pitchFamily="34" charset="0"/>
                <a:ea typeface="Calibri" pitchFamily="34" charset="-122"/>
                <a:cs typeface="Calibri" pitchFamily="34" charset="-120"/>
              </a:rPr>
              <a:t>Storage</a:t>
            </a:r>
            <a:endParaRPr lang="en-US" sz="1150" dirty="0"/>
          </a:p>
        </p:txBody>
      </p:sp>
      <p:sp>
        <p:nvSpPr>
          <p:cNvPr id="15" name="Text 12"/>
          <p:cNvSpPr/>
          <p:nvPr/>
        </p:nvSpPr>
        <p:spPr>
          <a:xfrm>
            <a:off x="2788920" y="3950208"/>
            <a:ext cx="2880360" cy="457200"/>
          </a:xfrm>
          <a:prstGeom prst="rect">
            <a:avLst/>
          </a:prstGeom>
          <a:noFill/>
          <a:ln/>
        </p:spPr>
        <p:txBody>
          <a:bodyPr wrap="square" lIns="0" tIns="0" rIns="0" bIns="0" rtlCol="0" anchor="ctr"/>
          <a:lstStyle/>
          <a:p>
            <a:pPr marL="0" indent="0">
              <a:buNone/>
            </a:pPr>
            <a:r>
              <a:rPr lang="en-US" sz="1100" dirty="0">
                <a:solidFill>
                  <a:srgbClr val="4A4160"/>
                </a:solidFill>
                <a:latin typeface="Calibri" pitchFamily="34" charset="0"/>
                <a:ea typeface="Calibri" pitchFamily="34" charset="-122"/>
                <a:cs typeface="Calibri" pitchFamily="34" charset="-120"/>
              </a:rPr>
              <a:t>256 GB SSD </a:t>
            </a:r>
            <a:endParaRPr lang="en-US" sz="1100" dirty="0"/>
          </a:p>
        </p:txBody>
      </p:sp>
      <p:sp>
        <p:nvSpPr>
          <p:cNvPr id="16" name="Shape 13"/>
          <p:cNvSpPr/>
          <p:nvPr/>
        </p:nvSpPr>
        <p:spPr>
          <a:xfrm>
            <a:off x="868680" y="4407408"/>
            <a:ext cx="4754880" cy="0"/>
          </a:xfrm>
          <a:prstGeom prst="line">
            <a:avLst/>
          </a:prstGeom>
          <a:noFill/>
          <a:ln w="9525">
            <a:solidFill>
              <a:srgbClr val="D9CCF0"/>
            </a:solidFill>
            <a:prstDash val="solid"/>
          </a:ln>
        </p:spPr>
      </p:sp>
      <p:sp>
        <p:nvSpPr>
          <p:cNvPr id="17" name="Text 14"/>
          <p:cNvSpPr/>
          <p:nvPr/>
        </p:nvSpPr>
        <p:spPr>
          <a:xfrm>
            <a:off x="868680" y="4462272"/>
            <a:ext cx="1920240" cy="457200"/>
          </a:xfrm>
          <a:prstGeom prst="rect">
            <a:avLst/>
          </a:prstGeom>
          <a:noFill/>
          <a:ln/>
        </p:spPr>
        <p:txBody>
          <a:bodyPr wrap="square" lIns="0" tIns="0" rIns="0" bIns="0" rtlCol="0" anchor="ctr"/>
          <a:lstStyle/>
          <a:p>
            <a:pPr marL="0" indent="0">
              <a:buNone/>
            </a:pPr>
            <a:r>
              <a:rPr lang="en-US" sz="1150" b="1" dirty="0">
                <a:solidFill>
                  <a:srgbClr val="3A2C55"/>
                </a:solidFill>
                <a:latin typeface="Calibri" pitchFamily="34" charset="0"/>
                <a:ea typeface="Calibri" pitchFamily="34" charset="-122"/>
                <a:cs typeface="Calibri" pitchFamily="34" charset="-120"/>
              </a:rPr>
              <a:t>Display</a:t>
            </a:r>
            <a:endParaRPr lang="en-US" sz="1150" dirty="0"/>
          </a:p>
        </p:txBody>
      </p:sp>
      <p:sp>
        <p:nvSpPr>
          <p:cNvPr id="18" name="Text 15"/>
          <p:cNvSpPr/>
          <p:nvPr/>
        </p:nvSpPr>
        <p:spPr>
          <a:xfrm>
            <a:off x="2788920" y="4462272"/>
            <a:ext cx="2880360" cy="457200"/>
          </a:xfrm>
          <a:prstGeom prst="rect">
            <a:avLst/>
          </a:prstGeom>
          <a:noFill/>
          <a:ln/>
        </p:spPr>
        <p:txBody>
          <a:bodyPr wrap="square" lIns="0" tIns="0" rIns="0" bIns="0" rtlCol="0" anchor="ctr"/>
          <a:lstStyle/>
          <a:p>
            <a:pPr marL="0" indent="0">
              <a:buNone/>
            </a:pPr>
            <a:r>
              <a:rPr lang="en-US" sz="1100" dirty="0">
                <a:solidFill>
                  <a:srgbClr val="4A4160"/>
                </a:solidFill>
                <a:latin typeface="Calibri" pitchFamily="34" charset="0"/>
                <a:ea typeface="Calibri" pitchFamily="34" charset="-122"/>
                <a:cs typeface="Calibri" pitchFamily="34" charset="-120"/>
              </a:rPr>
              <a:t>1366 × 768 or higher</a:t>
            </a:r>
            <a:endParaRPr lang="en-US" sz="1100" dirty="0"/>
          </a:p>
        </p:txBody>
      </p:sp>
      <p:sp>
        <p:nvSpPr>
          <p:cNvPr id="19" name="Shape 16"/>
          <p:cNvSpPr/>
          <p:nvPr/>
        </p:nvSpPr>
        <p:spPr>
          <a:xfrm>
            <a:off x="868680" y="4919472"/>
            <a:ext cx="4754880" cy="0"/>
          </a:xfrm>
          <a:prstGeom prst="line">
            <a:avLst/>
          </a:prstGeom>
          <a:noFill/>
          <a:ln w="9525">
            <a:solidFill>
              <a:srgbClr val="D9CCF0"/>
            </a:solidFill>
            <a:prstDash val="solid"/>
          </a:ln>
        </p:spPr>
      </p:sp>
      <p:sp>
        <p:nvSpPr>
          <p:cNvPr id="20" name="Text 17"/>
          <p:cNvSpPr/>
          <p:nvPr/>
        </p:nvSpPr>
        <p:spPr>
          <a:xfrm>
            <a:off x="868680" y="4974336"/>
            <a:ext cx="1920240" cy="457200"/>
          </a:xfrm>
          <a:prstGeom prst="rect">
            <a:avLst/>
          </a:prstGeom>
          <a:noFill/>
          <a:ln/>
        </p:spPr>
        <p:txBody>
          <a:bodyPr wrap="square" lIns="0" tIns="0" rIns="0" bIns="0" rtlCol="0" anchor="ctr"/>
          <a:lstStyle/>
          <a:p>
            <a:pPr marL="0" indent="0">
              <a:buNone/>
            </a:pPr>
            <a:r>
              <a:rPr lang="en-US" sz="1150" b="1" dirty="0">
                <a:solidFill>
                  <a:srgbClr val="3A2C55"/>
                </a:solidFill>
                <a:latin typeface="Calibri" pitchFamily="34" charset="0"/>
                <a:ea typeface="Calibri" pitchFamily="34" charset="-122"/>
                <a:cs typeface="Calibri" pitchFamily="34" charset="-120"/>
              </a:rPr>
              <a:t>Operating System</a:t>
            </a:r>
            <a:endParaRPr lang="en-US" sz="1150" dirty="0"/>
          </a:p>
        </p:txBody>
      </p:sp>
      <p:sp>
        <p:nvSpPr>
          <p:cNvPr id="21" name="Text 18"/>
          <p:cNvSpPr/>
          <p:nvPr/>
        </p:nvSpPr>
        <p:spPr>
          <a:xfrm>
            <a:off x="2788920" y="4974336"/>
            <a:ext cx="2880360" cy="457200"/>
          </a:xfrm>
          <a:prstGeom prst="rect">
            <a:avLst/>
          </a:prstGeom>
          <a:noFill/>
          <a:ln/>
        </p:spPr>
        <p:txBody>
          <a:bodyPr wrap="square" lIns="0" tIns="0" rIns="0" bIns="0" rtlCol="0" anchor="ctr"/>
          <a:lstStyle/>
          <a:p>
            <a:pPr marL="0" indent="0">
              <a:buNone/>
            </a:pPr>
            <a:r>
              <a:rPr lang="en-US" sz="1100" dirty="0">
                <a:solidFill>
                  <a:srgbClr val="4A4160"/>
                </a:solidFill>
                <a:latin typeface="Calibri" pitchFamily="34" charset="0"/>
                <a:ea typeface="Calibri" pitchFamily="34" charset="-122"/>
                <a:cs typeface="Calibri" pitchFamily="34" charset="-120"/>
              </a:rPr>
              <a:t>Windows  11, Linux </a:t>
            </a:r>
            <a:endParaRPr lang="en-US" sz="1100" dirty="0"/>
          </a:p>
        </p:txBody>
      </p:sp>
      <p:sp>
        <p:nvSpPr>
          <p:cNvPr id="22" name="Shape 19"/>
          <p:cNvSpPr/>
          <p:nvPr/>
        </p:nvSpPr>
        <p:spPr>
          <a:xfrm>
            <a:off x="868680" y="5431536"/>
            <a:ext cx="4754880" cy="0"/>
          </a:xfrm>
          <a:prstGeom prst="line">
            <a:avLst/>
          </a:prstGeom>
          <a:noFill/>
          <a:ln w="9525">
            <a:solidFill>
              <a:srgbClr val="D9CCF0"/>
            </a:solidFill>
            <a:prstDash val="solid"/>
          </a:ln>
        </p:spPr>
      </p:sp>
      <p:sp>
        <p:nvSpPr>
          <p:cNvPr id="23" name="Text 20"/>
          <p:cNvSpPr/>
          <p:nvPr/>
        </p:nvSpPr>
        <p:spPr>
          <a:xfrm>
            <a:off x="868680" y="5486400"/>
            <a:ext cx="1920240" cy="457200"/>
          </a:xfrm>
          <a:prstGeom prst="rect">
            <a:avLst/>
          </a:prstGeom>
          <a:noFill/>
          <a:ln/>
        </p:spPr>
        <p:txBody>
          <a:bodyPr wrap="square" lIns="0" tIns="0" rIns="0" bIns="0" rtlCol="0" anchor="ctr"/>
          <a:lstStyle/>
          <a:p>
            <a:pPr marL="0" indent="0">
              <a:buNone/>
            </a:pPr>
            <a:r>
              <a:rPr lang="en-US" sz="1150" b="1" dirty="0">
                <a:solidFill>
                  <a:srgbClr val="3A2C55"/>
                </a:solidFill>
                <a:latin typeface="Calibri" pitchFamily="34" charset="0"/>
                <a:ea typeface="Calibri" pitchFamily="34" charset="-122"/>
                <a:cs typeface="Calibri" pitchFamily="34" charset="-120"/>
              </a:rPr>
              <a:t>Internet</a:t>
            </a:r>
            <a:endParaRPr lang="en-US" sz="1150" dirty="0"/>
          </a:p>
        </p:txBody>
      </p:sp>
      <p:sp>
        <p:nvSpPr>
          <p:cNvPr id="24" name="Text 21"/>
          <p:cNvSpPr/>
          <p:nvPr/>
        </p:nvSpPr>
        <p:spPr>
          <a:xfrm>
            <a:off x="2788920" y="5486400"/>
            <a:ext cx="2880360" cy="457200"/>
          </a:xfrm>
          <a:prstGeom prst="rect">
            <a:avLst/>
          </a:prstGeom>
          <a:noFill/>
          <a:ln/>
        </p:spPr>
        <p:txBody>
          <a:bodyPr wrap="square" lIns="0" tIns="0" rIns="0" bIns="0" rtlCol="0" anchor="ctr"/>
          <a:lstStyle/>
          <a:p>
            <a:pPr marL="0" indent="0">
              <a:buNone/>
            </a:pPr>
            <a:r>
              <a:rPr lang="en-US" sz="1100" dirty="0">
                <a:solidFill>
                  <a:srgbClr val="4A4160"/>
                </a:solidFill>
                <a:latin typeface="Calibri" pitchFamily="34" charset="0"/>
                <a:ea typeface="Calibri" pitchFamily="34" charset="-122"/>
                <a:cs typeface="Calibri" pitchFamily="34" charset="-120"/>
              </a:rPr>
              <a:t>Stable broadband connection</a:t>
            </a:r>
            <a:endParaRPr lang="en-US" sz="1100" dirty="0"/>
          </a:p>
        </p:txBody>
      </p:sp>
      <p:sp>
        <p:nvSpPr>
          <p:cNvPr id="25" name="Shape 22"/>
          <p:cNvSpPr/>
          <p:nvPr/>
        </p:nvSpPr>
        <p:spPr>
          <a:xfrm>
            <a:off x="868680" y="5943600"/>
            <a:ext cx="4754880" cy="0"/>
          </a:xfrm>
          <a:prstGeom prst="line">
            <a:avLst/>
          </a:prstGeom>
          <a:noFill/>
          <a:ln w="9525">
            <a:solidFill>
              <a:srgbClr val="D9CCF0"/>
            </a:solidFill>
            <a:prstDash val="solid"/>
          </a:ln>
        </p:spPr>
      </p:sp>
      <p:sp>
        <p:nvSpPr>
          <p:cNvPr id="26" name="Shape 23"/>
          <p:cNvSpPr/>
          <p:nvPr/>
        </p:nvSpPr>
        <p:spPr>
          <a:xfrm>
            <a:off x="6263640" y="1965960"/>
            <a:ext cx="5394960" cy="4160520"/>
          </a:xfrm>
          <a:prstGeom prst="roundRect">
            <a:avLst>
              <a:gd name="adj" fmla="val 1758"/>
            </a:avLst>
          </a:prstGeom>
          <a:solidFill>
            <a:srgbClr val="F4EFFB"/>
          </a:solidFill>
          <a:ln/>
        </p:spPr>
      </p:sp>
      <p:sp>
        <p:nvSpPr>
          <p:cNvPr id="27" name="Shape 24"/>
          <p:cNvSpPr/>
          <p:nvPr/>
        </p:nvSpPr>
        <p:spPr>
          <a:xfrm>
            <a:off x="6537960" y="2212848"/>
            <a:ext cx="502920" cy="502920"/>
          </a:xfrm>
          <a:prstGeom prst="ellipse">
            <a:avLst/>
          </a:prstGeom>
          <a:solidFill>
            <a:srgbClr val="4B2E83"/>
          </a:solidFill>
          <a:ln/>
        </p:spPr>
      </p:sp>
      <p:pic>
        <p:nvPicPr>
          <p:cNvPr id="28" name="Image 1" descr="icons/code_white.png"/>
          <p:cNvPicPr>
            <a:picLocks noChangeAspect="1"/>
          </p:cNvPicPr>
          <p:nvPr/>
        </p:nvPicPr>
        <p:blipFill>
          <a:blip r:embed="rId4"/>
          <a:stretch>
            <a:fillRect/>
          </a:stretch>
        </p:blipFill>
        <p:spPr>
          <a:xfrm>
            <a:off x="6675120" y="2350008"/>
            <a:ext cx="228600" cy="228600"/>
          </a:xfrm>
          <a:prstGeom prst="rect">
            <a:avLst/>
          </a:prstGeom>
        </p:spPr>
      </p:pic>
      <p:sp>
        <p:nvSpPr>
          <p:cNvPr id="29" name="Text 25"/>
          <p:cNvSpPr/>
          <p:nvPr/>
        </p:nvSpPr>
        <p:spPr>
          <a:xfrm>
            <a:off x="7178040" y="2212848"/>
            <a:ext cx="4114800" cy="502920"/>
          </a:xfrm>
          <a:prstGeom prst="rect">
            <a:avLst/>
          </a:prstGeom>
          <a:noFill/>
          <a:ln/>
        </p:spPr>
        <p:txBody>
          <a:bodyPr wrap="square" lIns="0" tIns="0" rIns="0" bIns="0" rtlCol="0" anchor="ctr"/>
          <a:lstStyle/>
          <a:p>
            <a:pPr marL="0" indent="0">
              <a:buNone/>
            </a:pPr>
            <a:r>
              <a:rPr lang="en-US" sz="1600" b="1" dirty="0">
                <a:solidFill>
                  <a:srgbClr val="4B2E83"/>
                </a:solidFill>
                <a:latin typeface="Cambria" pitchFamily="34" charset="0"/>
                <a:ea typeface="Cambria" pitchFamily="34" charset="-122"/>
                <a:cs typeface="Cambria" pitchFamily="34" charset="-120"/>
              </a:rPr>
              <a:t>Software Configuration</a:t>
            </a:r>
            <a:endParaRPr lang="en-US" sz="1600" dirty="0"/>
          </a:p>
        </p:txBody>
      </p:sp>
      <p:sp>
        <p:nvSpPr>
          <p:cNvPr id="30" name="Text 26"/>
          <p:cNvSpPr/>
          <p:nvPr/>
        </p:nvSpPr>
        <p:spPr>
          <a:xfrm>
            <a:off x="6583680" y="2926080"/>
            <a:ext cx="1920240" cy="457200"/>
          </a:xfrm>
          <a:prstGeom prst="rect">
            <a:avLst/>
          </a:prstGeom>
          <a:noFill/>
          <a:ln/>
        </p:spPr>
        <p:txBody>
          <a:bodyPr wrap="square" lIns="0" tIns="0" rIns="0" bIns="0" rtlCol="0" anchor="ctr"/>
          <a:lstStyle/>
          <a:p>
            <a:pPr marL="0" indent="0">
              <a:buNone/>
            </a:pPr>
            <a:r>
              <a:rPr lang="en-US" sz="1150" b="1" dirty="0">
                <a:solidFill>
                  <a:srgbClr val="3A2C55"/>
                </a:solidFill>
                <a:latin typeface="Calibri" pitchFamily="34" charset="0"/>
                <a:ea typeface="Calibri" pitchFamily="34" charset="-122"/>
                <a:cs typeface="Calibri" pitchFamily="34" charset="-120"/>
              </a:rPr>
              <a:t>Runtime</a:t>
            </a:r>
            <a:endParaRPr lang="en-US" sz="1150" dirty="0"/>
          </a:p>
        </p:txBody>
      </p:sp>
      <p:sp>
        <p:nvSpPr>
          <p:cNvPr id="31" name="Text 27"/>
          <p:cNvSpPr/>
          <p:nvPr/>
        </p:nvSpPr>
        <p:spPr>
          <a:xfrm>
            <a:off x="8503920" y="2926080"/>
            <a:ext cx="2880360" cy="457200"/>
          </a:xfrm>
          <a:prstGeom prst="rect">
            <a:avLst/>
          </a:prstGeom>
          <a:noFill/>
          <a:ln/>
        </p:spPr>
        <p:txBody>
          <a:bodyPr wrap="square" lIns="0" tIns="0" rIns="0" bIns="0" rtlCol="0" anchor="ctr"/>
          <a:lstStyle/>
          <a:p>
            <a:pPr marL="0" indent="0">
              <a:buNone/>
            </a:pPr>
            <a:r>
              <a:rPr lang="en-US" sz="1100" dirty="0">
                <a:solidFill>
                  <a:srgbClr val="4A4160"/>
                </a:solidFill>
                <a:latin typeface="Calibri" pitchFamily="34" charset="0"/>
                <a:ea typeface="Calibri" pitchFamily="34" charset="-122"/>
                <a:cs typeface="Calibri" pitchFamily="34" charset="-120"/>
              </a:rPr>
              <a:t>Node.js (v18 or later)</a:t>
            </a:r>
            <a:endParaRPr lang="en-US" sz="1100" dirty="0"/>
          </a:p>
        </p:txBody>
      </p:sp>
      <p:sp>
        <p:nvSpPr>
          <p:cNvPr id="32" name="Shape 28"/>
          <p:cNvSpPr/>
          <p:nvPr/>
        </p:nvSpPr>
        <p:spPr>
          <a:xfrm>
            <a:off x="6583680" y="3383280"/>
            <a:ext cx="4754880" cy="0"/>
          </a:xfrm>
          <a:prstGeom prst="line">
            <a:avLst/>
          </a:prstGeom>
          <a:noFill/>
          <a:ln w="9525">
            <a:solidFill>
              <a:srgbClr val="D9CCF0"/>
            </a:solidFill>
            <a:prstDash val="solid"/>
          </a:ln>
        </p:spPr>
      </p:sp>
      <p:sp>
        <p:nvSpPr>
          <p:cNvPr id="33" name="Text 29"/>
          <p:cNvSpPr/>
          <p:nvPr/>
        </p:nvSpPr>
        <p:spPr>
          <a:xfrm>
            <a:off x="6583680" y="3438144"/>
            <a:ext cx="1920240" cy="457200"/>
          </a:xfrm>
          <a:prstGeom prst="rect">
            <a:avLst/>
          </a:prstGeom>
          <a:noFill/>
          <a:ln/>
        </p:spPr>
        <p:txBody>
          <a:bodyPr wrap="square" lIns="0" tIns="0" rIns="0" bIns="0" rtlCol="0" anchor="ctr"/>
          <a:lstStyle/>
          <a:p>
            <a:pPr marL="0" indent="0">
              <a:buNone/>
            </a:pPr>
            <a:r>
              <a:rPr lang="en-US" sz="1150" b="1" dirty="0">
                <a:solidFill>
                  <a:srgbClr val="3A2C55"/>
                </a:solidFill>
                <a:latin typeface="Calibri" pitchFamily="34" charset="0"/>
                <a:ea typeface="Calibri" pitchFamily="34" charset="-122"/>
                <a:cs typeface="Calibri" pitchFamily="34" charset="-120"/>
              </a:rPr>
              <a:t>Server Framework</a:t>
            </a:r>
            <a:endParaRPr lang="en-US" sz="1150" dirty="0"/>
          </a:p>
        </p:txBody>
      </p:sp>
      <p:sp>
        <p:nvSpPr>
          <p:cNvPr id="34" name="Text 30"/>
          <p:cNvSpPr/>
          <p:nvPr/>
        </p:nvSpPr>
        <p:spPr>
          <a:xfrm>
            <a:off x="8503920" y="3438144"/>
            <a:ext cx="2880360" cy="457200"/>
          </a:xfrm>
          <a:prstGeom prst="rect">
            <a:avLst/>
          </a:prstGeom>
          <a:noFill/>
          <a:ln/>
        </p:spPr>
        <p:txBody>
          <a:bodyPr wrap="square" lIns="0" tIns="0" rIns="0" bIns="0" rtlCol="0" anchor="ctr"/>
          <a:lstStyle/>
          <a:p>
            <a:pPr marL="0" indent="0">
              <a:buNone/>
            </a:pPr>
            <a:r>
              <a:rPr lang="en-US" sz="1100" dirty="0">
                <a:solidFill>
                  <a:srgbClr val="4A4160"/>
                </a:solidFill>
                <a:latin typeface="Calibri" pitchFamily="34" charset="0"/>
                <a:ea typeface="Calibri" pitchFamily="34" charset="-122"/>
                <a:cs typeface="Calibri" pitchFamily="34" charset="-120"/>
              </a:rPr>
              <a:t>Express.js</a:t>
            </a:r>
            <a:endParaRPr lang="en-US" sz="1100" dirty="0"/>
          </a:p>
        </p:txBody>
      </p:sp>
      <p:sp>
        <p:nvSpPr>
          <p:cNvPr id="35" name="Shape 31"/>
          <p:cNvSpPr/>
          <p:nvPr/>
        </p:nvSpPr>
        <p:spPr>
          <a:xfrm>
            <a:off x="6583680" y="3895344"/>
            <a:ext cx="4754880" cy="0"/>
          </a:xfrm>
          <a:prstGeom prst="line">
            <a:avLst/>
          </a:prstGeom>
          <a:noFill/>
          <a:ln w="9525">
            <a:solidFill>
              <a:srgbClr val="D9CCF0"/>
            </a:solidFill>
            <a:prstDash val="solid"/>
          </a:ln>
        </p:spPr>
      </p:sp>
      <p:sp>
        <p:nvSpPr>
          <p:cNvPr id="36" name="Text 32"/>
          <p:cNvSpPr/>
          <p:nvPr/>
        </p:nvSpPr>
        <p:spPr>
          <a:xfrm>
            <a:off x="6583680" y="3950208"/>
            <a:ext cx="1920240" cy="457200"/>
          </a:xfrm>
          <a:prstGeom prst="rect">
            <a:avLst/>
          </a:prstGeom>
          <a:noFill/>
          <a:ln/>
        </p:spPr>
        <p:txBody>
          <a:bodyPr wrap="square" lIns="0" tIns="0" rIns="0" bIns="0" rtlCol="0" anchor="ctr"/>
          <a:lstStyle/>
          <a:p>
            <a:pPr marL="0" indent="0">
              <a:buNone/>
            </a:pPr>
            <a:r>
              <a:rPr lang="en-US" sz="1150" b="1" dirty="0">
                <a:solidFill>
                  <a:srgbClr val="3A2C55"/>
                </a:solidFill>
                <a:latin typeface="Calibri" pitchFamily="34" charset="0"/>
                <a:ea typeface="Calibri" pitchFamily="34" charset="-122"/>
                <a:cs typeface="Calibri" pitchFamily="34" charset="-120"/>
              </a:rPr>
              <a:t>Database</a:t>
            </a:r>
            <a:endParaRPr lang="en-US" sz="1150" dirty="0"/>
          </a:p>
        </p:txBody>
      </p:sp>
      <p:sp>
        <p:nvSpPr>
          <p:cNvPr id="37" name="Text 33"/>
          <p:cNvSpPr/>
          <p:nvPr/>
        </p:nvSpPr>
        <p:spPr>
          <a:xfrm>
            <a:off x="8503920" y="3950208"/>
            <a:ext cx="2880360" cy="457200"/>
          </a:xfrm>
          <a:prstGeom prst="rect">
            <a:avLst/>
          </a:prstGeom>
          <a:noFill/>
          <a:ln/>
        </p:spPr>
        <p:txBody>
          <a:bodyPr wrap="square" lIns="0" tIns="0" rIns="0" bIns="0" rtlCol="0" anchor="ctr"/>
          <a:lstStyle/>
          <a:p>
            <a:pPr marL="0" indent="0">
              <a:buNone/>
            </a:pPr>
            <a:r>
              <a:rPr lang="en-US" sz="1100" dirty="0">
                <a:solidFill>
                  <a:srgbClr val="4A4160"/>
                </a:solidFill>
                <a:latin typeface="Calibri" pitchFamily="34" charset="0"/>
                <a:ea typeface="Calibri" pitchFamily="34" charset="-122"/>
                <a:cs typeface="Calibri" pitchFamily="34" charset="-120"/>
              </a:rPr>
              <a:t>MongoDB </a:t>
            </a:r>
            <a:endParaRPr lang="en-US" sz="1100" dirty="0"/>
          </a:p>
        </p:txBody>
      </p:sp>
      <p:sp>
        <p:nvSpPr>
          <p:cNvPr id="38" name="Shape 34"/>
          <p:cNvSpPr/>
          <p:nvPr/>
        </p:nvSpPr>
        <p:spPr>
          <a:xfrm>
            <a:off x="6583680" y="4407408"/>
            <a:ext cx="4754880" cy="0"/>
          </a:xfrm>
          <a:prstGeom prst="line">
            <a:avLst/>
          </a:prstGeom>
          <a:noFill/>
          <a:ln w="9525">
            <a:solidFill>
              <a:srgbClr val="D9CCF0"/>
            </a:solidFill>
            <a:prstDash val="solid"/>
          </a:ln>
        </p:spPr>
      </p:sp>
      <p:sp>
        <p:nvSpPr>
          <p:cNvPr id="39" name="Text 35"/>
          <p:cNvSpPr/>
          <p:nvPr/>
        </p:nvSpPr>
        <p:spPr>
          <a:xfrm>
            <a:off x="6583680" y="4462272"/>
            <a:ext cx="1920240" cy="457200"/>
          </a:xfrm>
          <a:prstGeom prst="rect">
            <a:avLst/>
          </a:prstGeom>
          <a:noFill/>
          <a:ln/>
        </p:spPr>
        <p:txBody>
          <a:bodyPr wrap="square" lIns="0" tIns="0" rIns="0" bIns="0" rtlCol="0" anchor="ctr"/>
          <a:lstStyle/>
          <a:p>
            <a:pPr marL="0" indent="0">
              <a:buNone/>
            </a:pPr>
            <a:r>
              <a:rPr lang="en-US" sz="1150" b="1" dirty="0">
                <a:solidFill>
                  <a:srgbClr val="3A2C55"/>
                </a:solidFill>
                <a:latin typeface="Calibri" pitchFamily="34" charset="0"/>
                <a:ea typeface="Calibri" pitchFamily="34" charset="-122"/>
                <a:cs typeface="Calibri" pitchFamily="34" charset="-120"/>
              </a:rPr>
              <a:t>Frontend</a:t>
            </a:r>
            <a:endParaRPr lang="en-US" sz="1150" dirty="0"/>
          </a:p>
        </p:txBody>
      </p:sp>
      <p:sp>
        <p:nvSpPr>
          <p:cNvPr id="40" name="Text 36"/>
          <p:cNvSpPr/>
          <p:nvPr/>
        </p:nvSpPr>
        <p:spPr>
          <a:xfrm>
            <a:off x="8503920" y="4462272"/>
            <a:ext cx="2880360" cy="457200"/>
          </a:xfrm>
          <a:prstGeom prst="rect">
            <a:avLst/>
          </a:prstGeom>
          <a:noFill/>
          <a:ln/>
        </p:spPr>
        <p:txBody>
          <a:bodyPr wrap="square" lIns="0" tIns="0" rIns="0" bIns="0" rtlCol="0" anchor="ctr"/>
          <a:lstStyle/>
          <a:p>
            <a:pPr marL="0" indent="0">
              <a:buNone/>
            </a:pPr>
            <a:r>
              <a:rPr lang="en-US" sz="1100" dirty="0">
                <a:solidFill>
                  <a:srgbClr val="4A4160"/>
                </a:solidFill>
                <a:latin typeface="Calibri" pitchFamily="34" charset="0"/>
                <a:ea typeface="Calibri" pitchFamily="34" charset="-122"/>
                <a:cs typeface="Calibri" pitchFamily="34" charset="-120"/>
              </a:rPr>
              <a:t>HTML5, CSS3, JavaScript</a:t>
            </a:r>
            <a:endParaRPr lang="en-US" sz="1100" dirty="0"/>
          </a:p>
        </p:txBody>
      </p:sp>
      <p:sp>
        <p:nvSpPr>
          <p:cNvPr id="41" name="Shape 37"/>
          <p:cNvSpPr/>
          <p:nvPr/>
        </p:nvSpPr>
        <p:spPr>
          <a:xfrm>
            <a:off x="6583680" y="4919472"/>
            <a:ext cx="4754880" cy="0"/>
          </a:xfrm>
          <a:prstGeom prst="line">
            <a:avLst/>
          </a:prstGeom>
          <a:noFill/>
          <a:ln w="9525">
            <a:solidFill>
              <a:srgbClr val="D9CCF0"/>
            </a:solidFill>
            <a:prstDash val="solid"/>
          </a:ln>
        </p:spPr>
      </p:sp>
      <p:sp>
        <p:nvSpPr>
          <p:cNvPr id="42" name="Text 38"/>
          <p:cNvSpPr/>
          <p:nvPr/>
        </p:nvSpPr>
        <p:spPr>
          <a:xfrm>
            <a:off x="6583680" y="4974336"/>
            <a:ext cx="1920240" cy="457200"/>
          </a:xfrm>
          <a:prstGeom prst="rect">
            <a:avLst/>
          </a:prstGeom>
          <a:noFill/>
          <a:ln/>
        </p:spPr>
        <p:txBody>
          <a:bodyPr wrap="square" lIns="0" tIns="0" rIns="0" bIns="0" rtlCol="0" anchor="ctr"/>
          <a:lstStyle/>
          <a:p>
            <a:pPr marL="0" indent="0">
              <a:buNone/>
            </a:pPr>
            <a:r>
              <a:rPr lang="en-US" sz="1150" b="1" dirty="0">
                <a:solidFill>
                  <a:srgbClr val="3A2C55"/>
                </a:solidFill>
                <a:latin typeface="Calibri" pitchFamily="34" charset="0"/>
                <a:ea typeface="Calibri" pitchFamily="34" charset="-122"/>
                <a:cs typeface="Calibri" pitchFamily="34" charset="-120"/>
              </a:rPr>
              <a:t>AI Service</a:t>
            </a:r>
            <a:endParaRPr lang="en-US" sz="1150" dirty="0"/>
          </a:p>
        </p:txBody>
      </p:sp>
      <p:sp>
        <p:nvSpPr>
          <p:cNvPr id="43" name="Text 39"/>
          <p:cNvSpPr/>
          <p:nvPr/>
        </p:nvSpPr>
        <p:spPr>
          <a:xfrm>
            <a:off x="8503920" y="4974336"/>
            <a:ext cx="2880360" cy="457200"/>
          </a:xfrm>
          <a:prstGeom prst="rect">
            <a:avLst/>
          </a:prstGeom>
          <a:noFill/>
          <a:ln/>
        </p:spPr>
        <p:txBody>
          <a:bodyPr wrap="square" lIns="0" tIns="0" rIns="0" bIns="0" rtlCol="0" anchor="ctr"/>
          <a:lstStyle/>
          <a:p>
            <a:pPr marL="0" indent="0">
              <a:buNone/>
            </a:pPr>
            <a:r>
              <a:rPr lang="en-US" sz="1100" dirty="0">
                <a:solidFill>
                  <a:srgbClr val="4A4160"/>
                </a:solidFill>
                <a:latin typeface="Calibri" pitchFamily="34" charset="0"/>
                <a:ea typeface="Calibri" pitchFamily="34" charset="-122"/>
                <a:cs typeface="Calibri" pitchFamily="34" charset="-120"/>
              </a:rPr>
              <a:t>Google Gemini API </a:t>
            </a:r>
            <a:endParaRPr lang="en-US" sz="1100" dirty="0"/>
          </a:p>
        </p:txBody>
      </p:sp>
      <p:sp>
        <p:nvSpPr>
          <p:cNvPr id="44" name="Shape 40"/>
          <p:cNvSpPr/>
          <p:nvPr/>
        </p:nvSpPr>
        <p:spPr>
          <a:xfrm>
            <a:off x="6583680" y="5431536"/>
            <a:ext cx="4754880" cy="0"/>
          </a:xfrm>
          <a:prstGeom prst="line">
            <a:avLst/>
          </a:prstGeom>
          <a:noFill/>
          <a:ln w="9525">
            <a:solidFill>
              <a:srgbClr val="D9CCF0"/>
            </a:solidFill>
            <a:prstDash val="solid"/>
          </a:ln>
        </p:spPr>
      </p:sp>
      <p:sp>
        <p:nvSpPr>
          <p:cNvPr id="45" name="Text 41"/>
          <p:cNvSpPr/>
          <p:nvPr/>
        </p:nvSpPr>
        <p:spPr>
          <a:xfrm>
            <a:off x="6583680" y="5486400"/>
            <a:ext cx="1920240" cy="457200"/>
          </a:xfrm>
          <a:prstGeom prst="rect">
            <a:avLst/>
          </a:prstGeom>
          <a:noFill/>
          <a:ln/>
        </p:spPr>
        <p:txBody>
          <a:bodyPr wrap="square" lIns="0" tIns="0" rIns="0" bIns="0" rtlCol="0" anchor="ctr"/>
          <a:lstStyle/>
          <a:p>
            <a:pPr marL="0" indent="0">
              <a:buNone/>
            </a:pPr>
            <a:r>
              <a:rPr lang="en-US" sz="1150" b="1" dirty="0">
                <a:solidFill>
                  <a:srgbClr val="3A2C55"/>
                </a:solidFill>
                <a:latin typeface="Calibri" pitchFamily="34" charset="0"/>
                <a:ea typeface="Calibri" pitchFamily="34" charset="-122"/>
                <a:cs typeface="Calibri" pitchFamily="34" charset="-120"/>
              </a:rPr>
              <a:t>Editor / Tools</a:t>
            </a:r>
            <a:endParaRPr lang="en-US" sz="1150" dirty="0"/>
          </a:p>
        </p:txBody>
      </p:sp>
      <p:sp>
        <p:nvSpPr>
          <p:cNvPr id="46" name="Text 42"/>
          <p:cNvSpPr/>
          <p:nvPr/>
        </p:nvSpPr>
        <p:spPr>
          <a:xfrm>
            <a:off x="8503920" y="5486400"/>
            <a:ext cx="2880360" cy="457200"/>
          </a:xfrm>
          <a:prstGeom prst="rect">
            <a:avLst/>
          </a:prstGeom>
          <a:noFill/>
          <a:ln/>
        </p:spPr>
        <p:txBody>
          <a:bodyPr wrap="square" lIns="0" tIns="0" rIns="0" bIns="0" rtlCol="0" anchor="ctr"/>
          <a:lstStyle/>
          <a:p>
            <a:pPr marL="0" indent="0">
              <a:buNone/>
            </a:pPr>
            <a:r>
              <a:rPr lang="en-US" sz="1100" dirty="0">
                <a:solidFill>
                  <a:srgbClr val="4A4160"/>
                </a:solidFill>
                <a:latin typeface="Calibri" pitchFamily="34" charset="0"/>
                <a:ea typeface="Calibri" pitchFamily="34" charset="-122"/>
                <a:cs typeface="Calibri" pitchFamily="34" charset="-120"/>
              </a:rPr>
              <a:t>VS Code, Git, </a:t>
            </a:r>
            <a:r>
              <a:rPr lang="en-US" sz="1100" dirty="0" err="1">
                <a:solidFill>
                  <a:srgbClr val="4A4160"/>
                </a:solidFill>
                <a:latin typeface="Calibri" pitchFamily="34" charset="0"/>
                <a:ea typeface="Calibri" pitchFamily="34" charset="-122"/>
                <a:cs typeface="Calibri" pitchFamily="34" charset="-120"/>
              </a:rPr>
              <a:t>npm</a:t>
            </a:r>
            <a:r>
              <a:rPr lang="en-US" sz="1100" dirty="0">
                <a:solidFill>
                  <a:srgbClr val="4A4160"/>
                </a:solidFill>
                <a:latin typeface="Calibri" pitchFamily="34" charset="0"/>
                <a:ea typeface="Calibri" pitchFamily="34" charset="-122"/>
                <a:cs typeface="Calibri" pitchFamily="34" charset="-120"/>
              </a:rPr>
              <a:t>, Brave browser</a:t>
            </a:r>
            <a:endParaRPr lang="en-US" sz="1100" dirty="0"/>
          </a:p>
        </p:txBody>
      </p:sp>
      <p:sp>
        <p:nvSpPr>
          <p:cNvPr id="47" name="Shape 43"/>
          <p:cNvSpPr/>
          <p:nvPr/>
        </p:nvSpPr>
        <p:spPr>
          <a:xfrm>
            <a:off x="6583680" y="5943600"/>
            <a:ext cx="4754880" cy="0"/>
          </a:xfrm>
          <a:prstGeom prst="line">
            <a:avLst/>
          </a:prstGeom>
          <a:noFill/>
          <a:ln w="9525">
            <a:solidFill>
              <a:srgbClr val="D9CCF0"/>
            </a:solidFill>
            <a:prstDash val="solid"/>
          </a:ln>
        </p:spPr>
      </p:sp>
      <p:sp>
        <p:nvSpPr>
          <p:cNvPr id="48" name="Text 44"/>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6B5B95"/>
                </a:solidFill>
                <a:latin typeface="Calibri" pitchFamily="34" charset="0"/>
                <a:ea typeface="Calibri" pitchFamily="34" charset="-122"/>
                <a:cs typeface="Calibri" pitchFamily="34" charset="-120"/>
              </a:rPr>
              <a:t>AI-Powered Scam Website Detection System</a:t>
            </a:r>
            <a:endParaRPr lang="en-US" sz="1000" dirty="0"/>
          </a:p>
        </p:txBody>
      </p:sp>
      <p:sp>
        <p:nvSpPr>
          <p:cNvPr id="49" name="Text 4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5B9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600" b="1" kern="0" spc="200" dirty="0">
                <a:solidFill>
                  <a:srgbClr val="9B7FC7"/>
                </a:solidFill>
                <a:latin typeface="Calibri" pitchFamily="34" charset="0"/>
                <a:ea typeface="Calibri" pitchFamily="34" charset="-122"/>
                <a:cs typeface="Calibri" pitchFamily="34" charset="-120"/>
              </a:rPr>
              <a:t>ALGORITHM DISCUSSION</a:t>
            </a:r>
            <a:endParaRPr lang="en-US" sz="16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600" b="1" dirty="0">
                <a:solidFill>
                  <a:srgbClr val="3A2C55"/>
                </a:solidFill>
                <a:latin typeface="Cambria" pitchFamily="34" charset="0"/>
                <a:ea typeface="Cambria" pitchFamily="34" charset="-122"/>
                <a:cs typeface="Cambria" pitchFamily="34" charset="-120"/>
              </a:rPr>
              <a:t>Trust-Score Calculation Algorithm</a:t>
            </a:r>
            <a:endParaRPr lang="en-US" sz="3600" dirty="0"/>
          </a:p>
        </p:txBody>
      </p:sp>
      <p:sp>
        <p:nvSpPr>
          <p:cNvPr id="4" name="Text 2"/>
          <p:cNvSpPr/>
          <p:nvPr/>
        </p:nvSpPr>
        <p:spPr>
          <a:xfrm>
            <a:off x="472440" y="1732280"/>
            <a:ext cx="5486400" cy="274320"/>
          </a:xfrm>
          <a:prstGeom prst="rect">
            <a:avLst/>
          </a:prstGeom>
          <a:noFill/>
          <a:ln/>
        </p:spPr>
        <p:txBody>
          <a:bodyPr wrap="square" rtlCol="0" anchor="ctr"/>
          <a:lstStyle/>
          <a:p>
            <a:pPr marL="0" indent="0">
              <a:buNone/>
            </a:pPr>
            <a:r>
              <a:rPr lang="en-US" sz="1600" b="1" dirty="0">
                <a:solidFill>
                  <a:srgbClr val="9B7FC7"/>
                </a:solidFill>
                <a:latin typeface="Calibri" pitchFamily="34" charset="0"/>
                <a:ea typeface="Calibri" pitchFamily="34" charset="-122"/>
                <a:cs typeface="Calibri" pitchFamily="34" charset="-120"/>
              </a:rPr>
              <a:t>Weighted Scoring Factors</a:t>
            </a:r>
            <a:endParaRPr lang="en-US" sz="1600" dirty="0"/>
          </a:p>
        </p:txBody>
      </p:sp>
      <p:sp>
        <p:nvSpPr>
          <p:cNvPr id="5" name="Text 3"/>
          <p:cNvSpPr/>
          <p:nvPr/>
        </p:nvSpPr>
        <p:spPr>
          <a:xfrm>
            <a:off x="548640" y="2057400"/>
            <a:ext cx="4023360" cy="292608"/>
          </a:xfrm>
          <a:prstGeom prst="rect">
            <a:avLst/>
          </a:prstGeom>
          <a:noFill/>
          <a:ln/>
        </p:spPr>
        <p:txBody>
          <a:bodyPr wrap="square" lIns="0" tIns="0" rIns="0" bIns="0" rtlCol="0" anchor="ctr"/>
          <a:lstStyle/>
          <a:p>
            <a:pPr marL="0" indent="0">
              <a:buNone/>
            </a:pPr>
            <a:r>
              <a:rPr lang="en-US" sz="1200" dirty="0">
                <a:solidFill>
                  <a:srgbClr val="3A2C55"/>
                </a:solidFill>
                <a:latin typeface="Calibri" pitchFamily="34" charset="0"/>
                <a:ea typeface="Calibri" pitchFamily="34" charset="-122"/>
                <a:cs typeface="Calibri" pitchFamily="34" charset="-120"/>
              </a:rPr>
              <a:t>HTTPS &amp; Certificate Check</a:t>
            </a:r>
            <a:endParaRPr lang="en-US" sz="1200" dirty="0"/>
          </a:p>
        </p:txBody>
      </p:sp>
      <p:sp>
        <p:nvSpPr>
          <p:cNvPr id="6" name="Shape 4"/>
          <p:cNvSpPr/>
          <p:nvPr/>
        </p:nvSpPr>
        <p:spPr>
          <a:xfrm>
            <a:off x="548640" y="2368296"/>
            <a:ext cx="5074920" cy="201168"/>
          </a:xfrm>
          <a:prstGeom prst="rect">
            <a:avLst/>
          </a:prstGeom>
          <a:solidFill>
            <a:srgbClr val="F4EFFB"/>
          </a:solidFill>
          <a:ln/>
        </p:spPr>
      </p:sp>
      <p:sp>
        <p:nvSpPr>
          <p:cNvPr id="7" name="Shape 5"/>
          <p:cNvSpPr/>
          <p:nvPr/>
        </p:nvSpPr>
        <p:spPr>
          <a:xfrm>
            <a:off x="548640" y="2368296"/>
            <a:ext cx="3383280" cy="201168"/>
          </a:xfrm>
          <a:prstGeom prst="rect">
            <a:avLst/>
          </a:prstGeom>
          <a:solidFill>
            <a:srgbClr val="4B2E83"/>
          </a:solidFill>
          <a:ln/>
        </p:spPr>
      </p:sp>
      <p:sp>
        <p:nvSpPr>
          <p:cNvPr id="8" name="Text 6"/>
          <p:cNvSpPr/>
          <p:nvPr/>
        </p:nvSpPr>
        <p:spPr>
          <a:xfrm>
            <a:off x="5715000" y="2331720"/>
            <a:ext cx="548640" cy="274320"/>
          </a:xfrm>
          <a:prstGeom prst="rect">
            <a:avLst/>
          </a:prstGeom>
          <a:noFill/>
          <a:ln/>
        </p:spPr>
        <p:txBody>
          <a:bodyPr wrap="square" rtlCol="0" anchor="ctr"/>
          <a:lstStyle/>
          <a:p>
            <a:pPr marL="0" indent="0">
              <a:buNone/>
            </a:pPr>
            <a:r>
              <a:rPr lang="en-US" sz="1200" b="1" dirty="0">
                <a:solidFill>
                  <a:srgbClr val="4B2E83"/>
                </a:solidFill>
                <a:latin typeface="Calibri" pitchFamily="34" charset="0"/>
                <a:ea typeface="Calibri" pitchFamily="34" charset="-122"/>
                <a:cs typeface="Calibri" pitchFamily="34" charset="-120"/>
              </a:rPr>
              <a:t>20%</a:t>
            </a:r>
            <a:endParaRPr lang="en-US" sz="1200" dirty="0"/>
          </a:p>
        </p:txBody>
      </p:sp>
      <p:sp>
        <p:nvSpPr>
          <p:cNvPr id="9" name="Text 7"/>
          <p:cNvSpPr/>
          <p:nvPr/>
        </p:nvSpPr>
        <p:spPr>
          <a:xfrm>
            <a:off x="548640" y="2715768"/>
            <a:ext cx="4023360" cy="292608"/>
          </a:xfrm>
          <a:prstGeom prst="rect">
            <a:avLst/>
          </a:prstGeom>
          <a:noFill/>
          <a:ln/>
        </p:spPr>
        <p:txBody>
          <a:bodyPr wrap="square" lIns="0" tIns="0" rIns="0" bIns="0" rtlCol="0" anchor="ctr"/>
          <a:lstStyle/>
          <a:p>
            <a:pPr marL="0" indent="0">
              <a:buNone/>
            </a:pPr>
            <a:r>
              <a:rPr lang="en-US" sz="1200" dirty="0">
                <a:solidFill>
                  <a:srgbClr val="3A2C55"/>
                </a:solidFill>
                <a:latin typeface="Calibri" pitchFamily="34" charset="0"/>
                <a:ea typeface="Calibri" pitchFamily="34" charset="-122"/>
                <a:cs typeface="Calibri" pitchFamily="34" charset="-120"/>
              </a:rPr>
              <a:t>Domain Age &amp; WHOIS Data</a:t>
            </a:r>
            <a:endParaRPr lang="en-US" sz="1200" dirty="0"/>
          </a:p>
        </p:txBody>
      </p:sp>
      <p:sp>
        <p:nvSpPr>
          <p:cNvPr id="10" name="Shape 8"/>
          <p:cNvSpPr/>
          <p:nvPr/>
        </p:nvSpPr>
        <p:spPr>
          <a:xfrm>
            <a:off x="548640" y="3026664"/>
            <a:ext cx="5074920" cy="201168"/>
          </a:xfrm>
          <a:prstGeom prst="rect">
            <a:avLst/>
          </a:prstGeom>
          <a:solidFill>
            <a:srgbClr val="F4EFFB"/>
          </a:solidFill>
          <a:ln/>
        </p:spPr>
      </p:sp>
      <p:sp>
        <p:nvSpPr>
          <p:cNvPr id="11" name="Shape 9"/>
          <p:cNvSpPr/>
          <p:nvPr/>
        </p:nvSpPr>
        <p:spPr>
          <a:xfrm>
            <a:off x="548640" y="3026664"/>
            <a:ext cx="4229100" cy="201168"/>
          </a:xfrm>
          <a:prstGeom prst="rect">
            <a:avLst/>
          </a:prstGeom>
          <a:solidFill>
            <a:srgbClr val="4B2E83"/>
          </a:solidFill>
          <a:ln/>
        </p:spPr>
      </p:sp>
      <p:sp>
        <p:nvSpPr>
          <p:cNvPr id="12" name="Text 10"/>
          <p:cNvSpPr/>
          <p:nvPr/>
        </p:nvSpPr>
        <p:spPr>
          <a:xfrm>
            <a:off x="5715000" y="2990088"/>
            <a:ext cx="548640" cy="274320"/>
          </a:xfrm>
          <a:prstGeom prst="rect">
            <a:avLst/>
          </a:prstGeom>
          <a:noFill/>
          <a:ln/>
        </p:spPr>
        <p:txBody>
          <a:bodyPr wrap="square" rtlCol="0" anchor="ctr"/>
          <a:lstStyle/>
          <a:p>
            <a:pPr marL="0" indent="0">
              <a:buNone/>
            </a:pPr>
            <a:r>
              <a:rPr lang="en-US" sz="1200" b="1" dirty="0">
                <a:solidFill>
                  <a:srgbClr val="4B2E83"/>
                </a:solidFill>
                <a:latin typeface="Calibri" pitchFamily="34" charset="0"/>
                <a:ea typeface="Calibri" pitchFamily="34" charset="-122"/>
                <a:cs typeface="Calibri" pitchFamily="34" charset="-120"/>
              </a:rPr>
              <a:t>25%</a:t>
            </a:r>
            <a:endParaRPr lang="en-US" sz="1200" dirty="0"/>
          </a:p>
        </p:txBody>
      </p:sp>
      <p:sp>
        <p:nvSpPr>
          <p:cNvPr id="13" name="Text 11"/>
          <p:cNvSpPr/>
          <p:nvPr/>
        </p:nvSpPr>
        <p:spPr>
          <a:xfrm>
            <a:off x="548640" y="3374136"/>
            <a:ext cx="4023360" cy="292608"/>
          </a:xfrm>
          <a:prstGeom prst="rect">
            <a:avLst/>
          </a:prstGeom>
          <a:noFill/>
          <a:ln/>
        </p:spPr>
        <p:txBody>
          <a:bodyPr wrap="square" lIns="0" tIns="0" rIns="0" bIns="0" rtlCol="0" anchor="ctr"/>
          <a:lstStyle/>
          <a:p>
            <a:pPr marL="0" indent="0">
              <a:buNone/>
            </a:pPr>
            <a:r>
              <a:rPr lang="en-US" sz="1200" dirty="0">
                <a:solidFill>
                  <a:srgbClr val="3A2C55"/>
                </a:solidFill>
                <a:latin typeface="Calibri" pitchFamily="34" charset="0"/>
                <a:ea typeface="Calibri" pitchFamily="34" charset="-122"/>
                <a:cs typeface="Calibri" pitchFamily="34" charset="-120"/>
              </a:rPr>
              <a:t>Suspicious URL Patterns</a:t>
            </a:r>
            <a:endParaRPr lang="en-US" sz="1200" dirty="0"/>
          </a:p>
        </p:txBody>
      </p:sp>
      <p:sp>
        <p:nvSpPr>
          <p:cNvPr id="14" name="Shape 12"/>
          <p:cNvSpPr/>
          <p:nvPr/>
        </p:nvSpPr>
        <p:spPr>
          <a:xfrm>
            <a:off x="548640" y="3685032"/>
            <a:ext cx="5074920" cy="201168"/>
          </a:xfrm>
          <a:prstGeom prst="rect">
            <a:avLst/>
          </a:prstGeom>
          <a:solidFill>
            <a:srgbClr val="F4EFFB"/>
          </a:solidFill>
          <a:ln/>
        </p:spPr>
      </p:sp>
      <p:sp>
        <p:nvSpPr>
          <p:cNvPr id="15" name="Shape 13"/>
          <p:cNvSpPr/>
          <p:nvPr/>
        </p:nvSpPr>
        <p:spPr>
          <a:xfrm>
            <a:off x="548640" y="3685032"/>
            <a:ext cx="4229100" cy="201168"/>
          </a:xfrm>
          <a:prstGeom prst="rect">
            <a:avLst/>
          </a:prstGeom>
          <a:solidFill>
            <a:srgbClr val="4B2E83"/>
          </a:solidFill>
          <a:ln/>
        </p:spPr>
      </p:sp>
      <p:sp>
        <p:nvSpPr>
          <p:cNvPr id="16" name="Text 14"/>
          <p:cNvSpPr/>
          <p:nvPr/>
        </p:nvSpPr>
        <p:spPr>
          <a:xfrm>
            <a:off x="5715000" y="3648456"/>
            <a:ext cx="548640" cy="274320"/>
          </a:xfrm>
          <a:prstGeom prst="rect">
            <a:avLst/>
          </a:prstGeom>
          <a:noFill/>
          <a:ln/>
        </p:spPr>
        <p:txBody>
          <a:bodyPr wrap="square" rtlCol="0" anchor="ctr"/>
          <a:lstStyle/>
          <a:p>
            <a:pPr marL="0" indent="0">
              <a:buNone/>
            </a:pPr>
            <a:r>
              <a:rPr lang="en-US" sz="1200" b="1" dirty="0">
                <a:solidFill>
                  <a:srgbClr val="4B2E83"/>
                </a:solidFill>
                <a:latin typeface="Calibri" pitchFamily="34" charset="0"/>
                <a:ea typeface="Calibri" pitchFamily="34" charset="-122"/>
                <a:cs typeface="Calibri" pitchFamily="34" charset="-120"/>
              </a:rPr>
              <a:t>25%</a:t>
            </a:r>
            <a:endParaRPr lang="en-US" sz="1200" dirty="0"/>
          </a:p>
        </p:txBody>
      </p:sp>
      <p:sp>
        <p:nvSpPr>
          <p:cNvPr id="17" name="Text 15"/>
          <p:cNvSpPr/>
          <p:nvPr/>
        </p:nvSpPr>
        <p:spPr>
          <a:xfrm>
            <a:off x="548640" y="4032504"/>
            <a:ext cx="4023360" cy="292608"/>
          </a:xfrm>
          <a:prstGeom prst="rect">
            <a:avLst/>
          </a:prstGeom>
          <a:noFill/>
          <a:ln/>
        </p:spPr>
        <p:txBody>
          <a:bodyPr wrap="square" lIns="0" tIns="0" rIns="0" bIns="0" rtlCol="0" anchor="ctr"/>
          <a:lstStyle/>
          <a:p>
            <a:pPr marL="0" indent="0">
              <a:buNone/>
            </a:pPr>
            <a:r>
              <a:rPr lang="en-US" sz="1200" dirty="0">
                <a:solidFill>
                  <a:srgbClr val="3A2C55"/>
                </a:solidFill>
                <a:latin typeface="Calibri" pitchFamily="34" charset="0"/>
                <a:ea typeface="Calibri" pitchFamily="34" charset="-122"/>
                <a:cs typeface="Calibri" pitchFamily="34" charset="-120"/>
              </a:rPr>
              <a:t>AI Content Analysis </a:t>
            </a:r>
            <a:endParaRPr lang="en-US" sz="1200" dirty="0"/>
          </a:p>
        </p:txBody>
      </p:sp>
      <p:sp>
        <p:nvSpPr>
          <p:cNvPr id="18" name="Shape 16"/>
          <p:cNvSpPr/>
          <p:nvPr/>
        </p:nvSpPr>
        <p:spPr>
          <a:xfrm>
            <a:off x="548640" y="4343400"/>
            <a:ext cx="5074920" cy="201168"/>
          </a:xfrm>
          <a:prstGeom prst="rect">
            <a:avLst/>
          </a:prstGeom>
          <a:solidFill>
            <a:srgbClr val="F4EFFB"/>
          </a:solidFill>
          <a:ln/>
        </p:spPr>
      </p:sp>
      <p:sp>
        <p:nvSpPr>
          <p:cNvPr id="19" name="Shape 17"/>
          <p:cNvSpPr/>
          <p:nvPr/>
        </p:nvSpPr>
        <p:spPr>
          <a:xfrm>
            <a:off x="548640" y="4343400"/>
            <a:ext cx="5074920" cy="201168"/>
          </a:xfrm>
          <a:prstGeom prst="rect">
            <a:avLst/>
          </a:prstGeom>
          <a:solidFill>
            <a:srgbClr val="4B2E83"/>
          </a:solidFill>
          <a:ln/>
        </p:spPr>
      </p:sp>
      <p:sp>
        <p:nvSpPr>
          <p:cNvPr id="20" name="Text 18"/>
          <p:cNvSpPr/>
          <p:nvPr/>
        </p:nvSpPr>
        <p:spPr>
          <a:xfrm>
            <a:off x="5715000" y="4306824"/>
            <a:ext cx="548640" cy="274320"/>
          </a:xfrm>
          <a:prstGeom prst="rect">
            <a:avLst/>
          </a:prstGeom>
          <a:noFill/>
          <a:ln/>
        </p:spPr>
        <p:txBody>
          <a:bodyPr wrap="square" rtlCol="0" anchor="ctr"/>
          <a:lstStyle/>
          <a:p>
            <a:pPr marL="0" indent="0">
              <a:buNone/>
            </a:pPr>
            <a:r>
              <a:rPr lang="en-US" sz="1200" b="1" dirty="0">
                <a:solidFill>
                  <a:srgbClr val="4B2E83"/>
                </a:solidFill>
                <a:latin typeface="Calibri" pitchFamily="34" charset="0"/>
                <a:ea typeface="Calibri" pitchFamily="34" charset="-122"/>
                <a:cs typeface="Calibri" pitchFamily="34" charset="-120"/>
              </a:rPr>
              <a:t>30%</a:t>
            </a:r>
            <a:endParaRPr lang="en-US" sz="1200" dirty="0"/>
          </a:p>
        </p:txBody>
      </p:sp>
      <p:sp>
        <p:nvSpPr>
          <p:cNvPr id="21" name="Shape 19"/>
          <p:cNvSpPr/>
          <p:nvPr/>
        </p:nvSpPr>
        <p:spPr>
          <a:xfrm>
            <a:off x="6263640" y="1815084"/>
            <a:ext cx="5349240" cy="2423160"/>
          </a:xfrm>
          <a:prstGeom prst="roundRect">
            <a:avLst>
              <a:gd name="adj" fmla="val 3019"/>
            </a:avLst>
          </a:prstGeom>
          <a:solidFill>
            <a:srgbClr val="F4EFFB"/>
          </a:solidFill>
          <a:ln/>
        </p:spPr>
      </p:sp>
      <p:sp>
        <p:nvSpPr>
          <p:cNvPr id="22" name="Text 20"/>
          <p:cNvSpPr/>
          <p:nvPr/>
        </p:nvSpPr>
        <p:spPr>
          <a:xfrm>
            <a:off x="6537960" y="1920240"/>
            <a:ext cx="4846320" cy="274320"/>
          </a:xfrm>
          <a:prstGeom prst="rect">
            <a:avLst/>
          </a:prstGeom>
          <a:noFill/>
          <a:ln/>
        </p:spPr>
        <p:txBody>
          <a:bodyPr wrap="square" rtlCol="0" anchor="ctr"/>
          <a:lstStyle/>
          <a:p>
            <a:pPr marL="0" indent="0">
              <a:buNone/>
            </a:pPr>
            <a:r>
              <a:rPr lang="en-US" b="1" dirty="0">
                <a:solidFill>
                  <a:srgbClr val="9B7FC7"/>
                </a:solidFill>
                <a:latin typeface="Calibri" pitchFamily="34" charset="0"/>
                <a:ea typeface="Calibri" pitchFamily="34" charset="-122"/>
                <a:cs typeface="Calibri" pitchFamily="34" charset="-120"/>
              </a:rPr>
              <a:t>Algorithm Steps</a:t>
            </a:r>
            <a:endParaRPr lang="en-US" dirty="0"/>
          </a:p>
        </p:txBody>
      </p:sp>
      <p:sp>
        <p:nvSpPr>
          <p:cNvPr id="23" name="Text 21"/>
          <p:cNvSpPr/>
          <p:nvPr/>
        </p:nvSpPr>
        <p:spPr>
          <a:xfrm>
            <a:off x="6537960" y="2240280"/>
            <a:ext cx="4937760" cy="1874520"/>
          </a:xfrm>
          <a:prstGeom prst="rect">
            <a:avLst/>
          </a:prstGeom>
          <a:noFill/>
          <a:ln/>
        </p:spPr>
        <p:txBody>
          <a:bodyPr wrap="square" rtlCol="0" anchor="t"/>
          <a:lstStyle/>
          <a:p>
            <a:pPr marL="0" indent="0">
              <a:lnSpc>
                <a:spcPct val="135000"/>
              </a:lnSpc>
              <a:buNone/>
            </a:pPr>
            <a:r>
              <a:rPr lang="en-US" sz="1400" dirty="0">
                <a:solidFill>
                  <a:srgbClr val="4A4160"/>
                </a:solidFill>
                <a:latin typeface="Calibri" pitchFamily="34" charset="0"/>
                <a:ea typeface="Calibri" pitchFamily="34" charset="-122"/>
                <a:cs typeface="Calibri" pitchFamily="34" charset="-120"/>
              </a:rPr>
              <a:t>1. Parse and validate the submitted URL.</a:t>
            </a:r>
            <a:endParaRPr lang="en-US" sz="1400" dirty="0"/>
          </a:p>
          <a:p>
            <a:pPr marL="0" indent="0">
              <a:lnSpc>
                <a:spcPct val="135000"/>
              </a:lnSpc>
              <a:buNone/>
            </a:pPr>
            <a:r>
              <a:rPr lang="en-US" sz="1400" dirty="0">
                <a:solidFill>
                  <a:srgbClr val="4A4160"/>
                </a:solidFill>
                <a:latin typeface="Calibri" pitchFamily="34" charset="0"/>
                <a:ea typeface="Calibri" pitchFamily="34" charset="-122"/>
                <a:cs typeface="Calibri" pitchFamily="34" charset="-120"/>
              </a:rPr>
              <a:t>2. Run HTTPS, domain-age, and pattern checks in parallel.</a:t>
            </a:r>
            <a:endParaRPr lang="en-US" sz="1400" dirty="0"/>
          </a:p>
          <a:p>
            <a:pPr marL="0" indent="0">
              <a:lnSpc>
                <a:spcPct val="135000"/>
              </a:lnSpc>
              <a:buNone/>
            </a:pPr>
            <a:r>
              <a:rPr lang="en-US" sz="1400" dirty="0">
                <a:solidFill>
                  <a:srgbClr val="4A4160"/>
                </a:solidFill>
                <a:latin typeface="Calibri" pitchFamily="34" charset="0"/>
                <a:ea typeface="Calibri" pitchFamily="34" charset="-122"/>
                <a:cs typeface="Calibri" pitchFamily="34" charset="-120"/>
              </a:rPr>
              <a:t>3. Send content to Gemini API for AI analysis (if enabled).</a:t>
            </a:r>
            <a:endParaRPr lang="en-US" sz="1400" dirty="0"/>
          </a:p>
          <a:p>
            <a:pPr marL="0" indent="0">
              <a:lnSpc>
                <a:spcPct val="135000"/>
              </a:lnSpc>
              <a:buNone/>
            </a:pPr>
            <a:r>
              <a:rPr lang="en-US" sz="1400" dirty="0">
                <a:solidFill>
                  <a:srgbClr val="4A4160"/>
                </a:solidFill>
                <a:latin typeface="Calibri" pitchFamily="34" charset="0"/>
                <a:ea typeface="Calibri" pitchFamily="34" charset="-122"/>
                <a:cs typeface="Calibri" pitchFamily="34" charset="-120"/>
              </a:rPr>
              <a:t>4. Apply factor weights and sum to a 0–100 score.</a:t>
            </a:r>
            <a:endParaRPr lang="en-US" sz="1400" dirty="0"/>
          </a:p>
          <a:p>
            <a:pPr marL="0" indent="0">
              <a:lnSpc>
                <a:spcPct val="135000"/>
              </a:lnSpc>
              <a:buNone/>
            </a:pPr>
            <a:r>
              <a:rPr lang="en-US" sz="1400" dirty="0">
                <a:solidFill>
                  <a:srgbClr val="4A4160"/>
                </a:solidFill>
                <a:latin typeface="Calibri" pitchFamily="34" charset="0"/>
                <a:ea typeface="Calibri" pitchFamily="34" charset="-122"/>
                <a:cs typeface="Calibri" pitchFamily="34" charset="-120"/>
              </a:rPr>
              <a:t>5. Map the score to a Safe / Suspicious / Dangerous label.</a:t>
            </a:r>
            <a:endParaRPr lang="en-US" sz="1400" dirty="0"/>
          </a:p>
        </p:txBody>
      </p:sp>
      <p:sp>
        <p:nvSpPr>
          <p:cNvPr id="24" name="Shape 22"/>
          <p:cNvSpPr/>
          <p:nvPr/>
        </p:nvSpPr>
        <p:spPr>
          <a:xfrm>
            <a:off x="6309360" y="4434840"/>
            <a:ext cx="1737360" cy="1051560"/>
          </a:xfrm>
          <a:prstGeom prst="roundRect">
            <a:avLst>
              <a:gd name="adj" fmla="val 6957"/>
            </a:avLst>
          </a:prstGeom>
          <a:solidFill>
            <a:srgbClr val="4B2E83"/>
          </a:solidFill>
          <a:ln/>
        </p:spPr>
      </p:sp>
      <p:sp>
        <p:nvSpPr>
          <p:cNvPr id="25" name="Text 23"/>
          <p:cNvSpPr/>
          <p:nvPr/>
        </p:nvSpPr>
        <p:spPr>
          <a:xfrm>
            <a:off x="6309360" y="4572000"/>
            <a:ext cx="1737360" cy="2743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 – 40</a:t>
            </a:r>
            <a:endParaRPr lang="en-US" sz="1400" dirty="0"/>
          </a:p>
        </p:txBody>
      </p:sp>
      <p:sp>
        <p:nvSpPr>
          <p:cNvPr id="26" name="Text 24"/>
          <p:cNvSpPr/>
          <p:nvPr/>
        </p:nvSpPr>
        <p:spPr>
          <a:xfrm>
            <a:off x="6309360" y="4892040"/>
            <a:ext cx="173736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Dangerous</a:t>
            </a:r>
            <a:endParaRPr lang="en-US" sz="1600" dirty="0"/>
          </a:p>
        </p:txBody>
      </p:sp>
      <p:sp>
        <p:nvSpPr>
          <p:cNvPr id="27" name="Shape 25"/>
          <p:cNvSpPr/>
          <p:nvPr/>
        </p:nvSpPr>
        <p:spPr>
          <a:xfrm>
            <a:off x="8119872" y="4434840"/>
            <a:ext cx="1737360" cy="1051560"/>
          </a:xfrm>
          <a:prstGeom prst="roundRect">
            <a:avLst>
              <a:gd name="adj" fmla="val 6957"/>
            </a:avLst>
          </a:prstGeom>
          <a:solidFill>
            <a:srgbClr val="9B7FC7"/>
          </a:solidFill>
          <a:ln/>
        </p:spPr>
      </p:sp>
      <p:sp>
        <p:nvSpPr>
          <p:cNvPr id="28" name="Text 26"/>
          <p:cNvSpPr/>
          <p:nvPr/>
        </p:nvSpPr>
        <p:spPr>
          <a:xfrm>
            <a:off x="8119872" y="4572000"/>
            <a:ext cx="1737360" cy="2743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41 – 70</a:t>
            </a:r>
            <a:endParaRPr lang="en-US" sz="1400" dirty="0"/>
          </a:p>
        </p:txBody>
      </p:sp>
      <p:sp>
        <p:nvSpPr>
          <p:cNvPr id="29" name="Text 27"/>
          <p:cNvSpPr/>
          <p:nvPr/>
        </p:nvSpPr>
        <p:spPr>
          <a:xfrm>
            <a:off x="8119872" y="4892040"/>
            <a:ext cx="173736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Suspicious</a:t>
            </a:r>
            <a:endParaRPr lang="en-US" sz="1600" dirty="0"/>
          </a:p>
        </p:txBody>
      </p:sp>
      <p:sp>
        <p:nvSpPr>
          <p:cNvPr id="30" name="Shape 28"/>
          <p:cNvSpPr/>
          <p:nvPr/>
        </p:nvSpPr>
        <p:spPr>
          <a:xfrm>
            <a:off x="9930384" y="4434840"/>
            <a:ext cx="1737360" cy="1051560"/>
          </a:xfrm>
          <a:prstGeom prst="roundRect">
            <a:avLst>
              <a:gd name="adj" fmla="val 6957"/>
            </a:avLst>
          </a:prstGeom>
          <a:solidFill>
            <a:srgbClr val="3AA76D"/>
          </a:solidFill>
          <a:ln/>
        </p:spPr>
      </p:sp>
      <p:sp>
        <p:nvSpPr>
          <p:cNvPr id="31" name="Text 29"/>
          <p:cNvSpPr/>
          <p:nvPr/>
        </p:nvSpPr>
        <p:spPr>
          <a:xfrm>
            <a:off x="9930384" y="4572000"/>
            <a:ext cx="1737360" cy="2743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71 – 100</a:t>
            </a:r>
            <a:endParaRPr lang="en-US" sz="1400" dirty="0"/>
          </a:p>
        </p:txBody>
      </p:sp>
      <p:sp>
        <p:nvSpPr>
          <p:cNvPr id="32" name="Text 30"/>
          <p:cNvSpPr/>
          <p:nvPr/>
        </p:nvSpPr>
        <p:spPr>
          <a:xfrm>
            <a:off x="9930384" y="4892040"/>
            <a:ext cx="173736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Safe</a:t>
            </a:r>
            <a:endParaRPr lang="en-US" sz="1600" dirty="0"/>
          </a:p>
        </p:txBody>
      </p:sp>
      <p:sp>
        <p:nvSpPr>
          <p:cNvPr id="33" name="Text 31"/>
          <p:cNvSpPr/>
          <p:nvPr/>
        </p:nvSpPr>
        <p:spPr>
          <a:xfrm>
            <a:off x="457200" y="6473952"/>
            <a:ext cx="8229600" cy="274320"/>
          </a:xfrm>
          <a:prstGeom prst="rect">
            <a:avLst/>
          </a:prstGeom>
          <a:noFill/>
          <a:ln/>
        </p:spPr>
        <p:txBody>
          <a:bodyPr wrap="square" rtlCol="0" anchor="ctr"/>
          <a:lstStyle/>
          <a:p>
            <a:pPr marL="0" indent="0" algn="l">
              <a:buNone/>
            </a:pPr>
            <a:r>
              <a:rPr lang="en-US" sz="1050" dirty="0">
                <a:solidFill>
                  <a:srgbClr val="6B5B95"/>
                </a:solidFill>
                <a:latin typeface="Calibri" pitchFamily="34" charset="0"/>
                <a:ea typeface="Calibri" pitchFamily="34" charset="-122"/>
                <a:cs typeface="Calibri" pitchFamily="34" charset="-120"/>
              </a:rPr>
              <a:t>AI-Powered Scam Website Detection System</a:t>
            </a:r>
            <a:endParaRPr lang="en-US" sz="1050" dirty="0"/>
          </a:p>
        </p:txBody>
      </p:sp>
      <p:sp>
        <p:nvSpPr>
          <p:cNvPr id="34" name="Text 32"/>
          <p:cNvSpPr/>
          <p:nvPr/>
        </p:nvSpPr>
        <p:spPr>
          <a:xfrm>
            <a:off x="11274552" y="6473952"/>
            <a:ext cx="457200" cy="274320"/>
          </a:xfrm>
          <a:prstGeom prst="rect">
            <a:avLst/>
          </a:prstGeom>
          <a:noFill/>
          <a:ln/>
        </p:spPr>
        <p:txBody>
          <a:bodyPr wrap="square" rtlCol="0" anchor="ctr"/>
          <a:lstStyle/>
          <a:p>
            <a:pPr marL="0" indent="0" algn="r">
              <a:buNone/>
            </a:pPr>
            <a:r>
              <a:rPr lang="en-US" sz="1050" dirty="0">
                <a:solidFill>
                  <a:srgbClr val="6B5B95"/>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B2E83"/>
        </a:solidFill>
        <a:effectLst/>
      </p:bgPr>
    </p:bg>
    <p:spTree>
      <p:nvGrpSpPr>
        <p:cNvPr id="1" name=""/>
        <p:cNvGrpSpPr/>
        <p:nvPr/>
      </p:nvGrpSpPr>
      <p:grpSpPr>
        <a:xfrm>
          <a:off x="0" y="0"/>
          <a:ext cx="0" cy="0"/>
          <a:chOff x="0" y="0"/>
          <a:chExt cx="0" cy="0"/>
        </a:xfrm>
      </p:grpSpPr>
      <p:sp>
        <p:nvSpPr>
          <p:cNvPr id="4" name="Text 1"/>
          <p:cNvSpPr/>
          <p:nvPr/>
        </p:nvSpPr>
        <p:spPr>
          <a:xfrm>
            <a:off x="822960" y="2103120"/>
            <a:ext cx="10543032" cy="5486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5" name="Text 2"/>
          <p:cNvSpPr/>
          <p:nvPr/>
        </p:nvSpPr>
        <p:spPr>
          <a:xfrm>
            <a:off x="2103120" y="2834640"/>
            <a:ext cx="7982712" cy="2194560"/>
          </a:xfrm>
          <a:prstGeom prst="rect">
            <a:avLst/>
          </a:prstGeom>
          <a:noFill/>
          <a:ln/>
        </p:spPr>
        <p:txBody>
          <a:bodyPr wrap="square" rtlCol="0" anchor="t"/>
          <a:lstStyle/>
          <a:p>
            <a:pPr marL="0" indent="0" algn="ctr">
              <a:lnSpc>
                <a:spcPct val="135000"/>
              </a:lnSpc>
              <a:buNone/>
            </a:pPr>
            <a:r>
              <a:rPr lang="en-US" sz="1500" dirty="0">
                <a:solidFill>
                  <a:srgbClr val="EFE7FB"/>
                </a:solidFill>
                <a:latin typeface="Calibri" pitchFamily="34" charset="0"/>
                <a:ea typeface="Calibri" pitchFamily="34" charset="-122"/>
                <a:cs typeface="Calibri" pitchFamily="34" charset="-120"/>
              </a:rPr>
              <a:t>This project shows how simple, automated checks — HTTPS status, domain data, and URL-pattern analysis, optionally strengthened with AI content review — can be combined into one clear trust score. By turning scattered technical signals into a single, easy-to-understand result, the system helps everyday users browse the web more safely and make confident, informed decisions before entering personal information online.</a:t>
            </a:r>
            <a:endParaRPr lang="en-US" sz="1500" dirty="0"/>
          </a:p>
        </p:txBody>
      </p:sp>
      <p:sp>
        <p:nvSpPr>
          <p:cNvPr id="6" name="Text 3"/>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C9B8E8"/>
                </a:solidFill>
                <a:latin typeface="Calibri" pitchFamily="34" charset="0"/>
                <a:ea typeface="Calibri" pitchFamily="34" charset="-122"/>
                <a:cs typeface="Calibri" pitchFamily="34" charset="-120"/>
              </a:rPr>
              <a:t>AI-Powered Scam Website Detection System</a:t>
            </a:r>
            <a:endParaRPr lang="en-US" sz="1000" dirty="0"/>
          </a:p>
        </p:txBody>
      </p:sp>
      <p:sp>
        <p:nvSpPr>
          <p:cNvPr id="7" name="Text 4"/>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C9B8E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9B7FC7"/>
                </a:solidFill>
                <a:latin typeface="Calibri" pitchFamily="34" charset="0"/>
                <a:ea typeface="Calibri" pitchFamily="34" charset="-122"/>
                <a:cs typeface="Calibri" pitchFamily="34" charset="-120"/>
              </a:rPr>
              <a:t>REFERENCES</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200" b="1" dirty="0">
                <a:solidFill>
                  <a:srgbClr val="3A2C55"/>
                </a:solidFill>
                <a:latin typeface="Cambria" pitchFamily="34" charset="0"/>
                <a:ea typeface="Cambria" pitchFamily="34" charset="-122"/>
                <a:cs typeface="Cambria" pitchFamily="34" charset="-120"/>
              </a:rPr>
              <a:t>Books &amp; Resources Consulted</a:t>
            </a:r>
            <a:endParaRPr lang="en-US" sz="3200" dirty="0"/>
          </a:p>
        </p:txBody>
      </p:sp>
      <p:pic>
        <p:nvPicPr>
          <p:cNvPr id="4" name="Image 0" descr="icons/book_lavender.png"/>
          <p:cNvPicPr>
            <a:picLocks noChangeAspect="1"/>
          </p:cNvPicPr>
          <p:nvPr/>
        </p:nvPicPr>
        <p:blipFill>
          <a:blip r:embed="rId3"/>
          <a:stretch>
            <a:fillRect/>
          </a:stretch>
        </p:blipFill>
        <p:spPr>
          <a:xfrm>
            <a:off x="594360" y="2057400"/>
            <a:ext cx="274320" cy="274320"/>
          </a:xfrm>
          <a:prstGeom prst="rect">
            <a:avLst/>
          </a:prstGeom>
        </p:spPr>
      </p:pic>
      <p:sp>
        <p:nvSpPr>
          <p:cNvPr id="5" name="Text 2"/>
          <p:cNvSpPr/>
          <p:nvPr/>
        </p:nvSpPr>
        <p:spPr>
          <a:xfrm>
            <a:off x="1051560" y="2011680"/>
            <a:ext cx="10424160" cy="502920"/>
          </a:xfrm>
          <a:prstGeom prst="rect">
            <a:avLst/>
          </a:prstGeom>
          <a:noFill/>
          <a:ln/>
        </p:spPr>
        <p:txBody>
          <a:bodyPr wrap="square" lIns="0" tIns="0" rIns="0" bIns="0" rtlCol="0" anchor="ctr"/>
          <a:lstStyle/>
          <a:p>
            <a:pPr marL="0" indent="0">
              <a:buNone/>
            </a:pPr>
            <a:r>
              <a:rPr lang="en-US" sz="1300" dirty="0">
                <a:solidFill>
                  <a:srgbClr val="3A2C55"/>
                </a:solidFill>
                <a:latin typeface="Calibri" pitchFamily="34" charset="0"/>
                <a:ea typeface="Calibri" pitchFamily="34" charset="-122"/>
                <a:cs typeface="Calibri" pitchFamily="34" charset="-120"/>
              </a:rPr>
              <a:t>OWASP Foundation, "OWASP Top Ten Web Application Security Risks", OWASP.org.</a:t>
            </a:r>
            <a:endParaRPr lang="en-US" sz="1300" dirty="0"/>
          </a:p>
        </p:txBody>
      </p:sp>
      <p:sp>
        <p:nvSpPr>
          <p:cNvPr id="6" name="Shape 3"/>
          <p:cNvSpPr/>
          <p:nvPr/>
        </p:nvSpPr>
        <p:spPr>
          <a:xfrm>
            <a:off x="594360" y="2578608"/>
            <a:ext cx="10881360" cy="0"/>
          </a:xfrm>
          <a:prstGeom prst="line">
            <a:avLst/>
          </a:prstGeom>
          <a:noFill/>
          <a:ln w="12700">
            <a:solidFill>
              <a:srgbClr val="E7DFF6"/>
            </a:solidFill>
            <a:prstDash val="solid"/>
          </a:ln>
        </p:spPr>
      </p:sp>
      <p:pic>
        <p:nvPicPr>
          <p:cNvPr id="7" name="Image 1" descr="icons/book_lavender.png"/>
          <p:cNvPicPr>
            <a:picLocks noChangeAspect="1"/>
          </p:cNvPicPr>
          <p:nvPr/>
        </p:nvPicPr>
        <p:blipFill>
          <a:blip r:embed="rId3"/>
          <a:stretch>
            <a:fillRect/>
          </a:stretch>
        </p:blipFill>
        <p:spPr>
          <a:xfrm>
            <a:off x="594360" y="2715768"/>
            <a:ext cx="274320" cy="274320"/>
          </a:xfrm>
          <a:prstGeom prst="rect">
            <a:avLst/>
          </a:prstGeom>
        </p:spPr>
      </p:pic>
      <p:sp>
        <p:nvSpPr>
          <p:cNvPr id="8" name="Text 4"/>
          <p:cNvSpPr/>
          <p:nvPr/>
        </p:nvSpPr>
        <p:spPr>
          <a:xfrm>
            <a:off x="1051560" y="2670048"/>
            <a:ext cx="10424160" cy="502920"/>
          </a:xfrm>
          <a:prstGeom prst="rect">
            <a:avLst/>
          </a:prstGeom>
          <a:noFill/>
          <a:ln/>
        </p:spPr>
        <p:txBody>
          <a:bodyPr wrap="square" lIns="0" tIns="0" rIns="0" bIns="0" rtlCol="0" anchor="ctr"/>
          <a:lstStyle/>
          <a:p>
            <a:pPr marL="0" indent="0">
              <a:buNone/>
            </a:pPr>
            <a:r>
              <a:rPr lang="en-US" sz="1300" dirty="0">
                <a:solidFill>
                  <a:srgbClr val="3A2C55"/>
                </a:solidFill>
                <a:latin typeface="Calibri" pitchFamily="34" charset="0"/>
                <a:ea typeface="Calibri" pitchFamily="34" charset="-122"/>
                <a:cs typeface="Calibri" pitchFamily="34" charset="-120"/>
              </a:rPr>
              <a:t>Node.js Foundation, "Node.js Documentation", nodejs.org.</a:t>
            </a:r>
            <a:endParaRPr lang="en-US" sz="1300" dirty="0"/>
          </a:p>
        </p:txBody>
      </p:sp>
      <p:sp>
        <p:nvSpPr>
          <p:cNvPr id="9" name="Shape 5"/>
          <p:cNvSpPr/>
          <p:nvPr/>
        </p:nvSpPr>
        <p:spPr>
          <a:xfrm>
            <a:off x="594360" y="3236976"/>
            <a:ext cx="10881360" cy="0"/>
          </a:xfrm>
          <a:prstGeom prst="line">
            <a:avLst/>
          </a:prstGeom>
          <a:noFill/>
          <a:ln w="12700">
            <a:solidFill>
              <a:srgbClr val="E7DFF6"/>
            </a:solidFill>
            <a:prstDash val="solid"/>
          </a:ln>
        </p:spPr>
      </p:sp>
      <p:pic>
        <p:nvPicPr>
          <p:cNvPr id="10" name="Image 2" descr="icons/book_lavender.png"/>
          <p:cNvPicPr>
            <a:picLocks noChangeAspect="1"/>
          </p:cNvPicPr>
          <p:nvPr/>
        </p:nvPicPr>
        <p:blipFill>
          <a:blip r:embed="rId3"/>
          <a:stretch>
            <a:fillRect/>
          </a:stretch>
        </p:blipFill>
        <p:spPr>
          <a:xfrm>
            <a:off x="594360" y="3374136"/>
            <a:ext cx="274320" cy="274320"/>
          </a:xfrm>
          <a:prstGeom prst="rect">
            <a:avLst/>
          </a:prstGeom>
        </p:spPr>
      </p:pic>
      <p:sp>
        <p:nvSpPr>
          <p:cNvPr id="11" name="Text 6"/>
          <p:cNvSpPr/>
          <p:nvPr/>
        </p:nvSpPr>
        <p:spPr>
          <a:xfrm>
            <a:off x="1051560" y="3328416"/>
            <a:ext cx="10424160" cy="502920"/>
          </a:xfrm>
          <a:prstGeom prst="rect">
            <a:avLst/>
          </a:prstGeom>
          <a:noFill/>
          <a:ln/>
        </p:spPr>
        <p:txBody>
          <a:bodyPr wrap="square" lIns="0" tIns="0" rIns="0" bIns="0" rtlCol="0" anchor="ctr"/>
          <a:lstStyle/>
          <a:p>
            <a:pPr marL="0" indent="0">
              <a:buNone/>
            </a:pPr>
            <a:r>
              <a:rPr lang="en-US" sz="1300" dirty="0">
                <a:solidFill>
                  <a:srgbClr val="3A2C55"/>
                </a:solidFill>
                <a:latin typeface="Calibri" pitchFamily="34" charset="0"/>
                <a:ea typeface="Calibri" pitchFamily="34" charset="-122"/>
                <a:cs typeface="Calibri" pitchFamily="34" charset="-120"/>
              </a:rPr>
              <a:t>MongoDB Inc., "MongoDB Manual", mongodb.com/docs.</a:t>
            </a:r>
            <a:endParaRPr lang="en-US" sz="1300" dirty="0"/>
          </a:p>
        </p:txBody>
      </p:sp>
      <p:sp>
        <p:nvSpPr>
          <p:cNvPr id="12" name="Shape 7"/>
          <p:cNvSpPr/>
          <p:nvPr/>
        </p:nvSpPr>
        <p:spPr>
          <a:xfrm>
            <a:off x="594360" y="3895344"/>
            <a:ext cx="10881360" cy="0"/>
          </a:xfrm>
          <a:prstGeom prst="line">
            <a:avLst/>
          </a:prstGeom>
          <a:noFill/>
          <a:ln w="12700">
            <a:solidFill>
              <a:srgbClr val="E7DFF6"/>
            </a:solidFill>
            <a:prstDash val="solid"/>
          </a:ln>
        </p:spPr>
      </p:sp>
      <p:pic>
        <p:nvPicPr>
          <p:cNvPr id="13" name="Image 3" descr="icons/book_lavender.png"/>
          <p:cNvPicPr>
            <a:picLocks noChangeAspect="1"/>
          </p:cNvPicPr>
          <p:nvPr/>
        </p:nvPicPr>
        <p:blipFill>
          <a:blip r:embed="rId3"/>
          <a:stretch>
            <a:fillRect/>
          </a:stretch>
        </p:blipFill>
        <p:spPr>
          <a:xfrm>
            <a:off x="594360" y="4032504"/>
            <a:ext cx="274320" cy="274320"/>
          </a:xfrm>
          <a:prstGeom prst="rect">
            <a:avLst/>
          </a:prstGeom>
        </p:spPr>
      </p:pic>
      <p:sp>
        <p:nvSpPr>
          <p:cNvPr id="14" name="Text 8"/>
          <p:cNvSpPr/>
          <p:nvPr/>
        </p:nvSpPr>
        <p:spPr>
          <a:xfrm>
            <a:off x="1051560" y="3986784"/>
            <a:ext cx="10424160" cy="502920"/>
          </a:xfrm>
          <a:prstGeom prst="rect">
            <a:avLst/>
          </a:prstGeom>
          <a:noFill/>
          <a:ln/>
        </p:spPr>
        <p:txBody>
          <a:bodyPr wrap="square" lIns="0" tIns="0" rIns="0" bIns="0" rtlCol="0" anchor="ctr"/>
          <a:lstStyle/>
          <a:p>
            <a:pPr marL="0" indent="0">
              <a:buNone/>
            </a:pPr>
            <a:r>
              <a:rPr lang="en-US" sz="1300" dirty="0">
                <a:solidFill>
                  <a:srgbClr val="3A2C55"/>
                </a:solidFill>
                <a:latin typeface="Calibri" pitchFamily="34" charset="0"/>
                <a:ea typeface="Calibri" pitchFamily="34" charset="-122"/>
                <a:cs typeface="Calibri" pitchFamily="34" charset="-120"/>
              </a:rPr>
              <a:t>Mozilla Developer Network, "Web Security Guidelines", developer.mozilla.org.</a:t>
            </a:r>
            <a:endParaRPr lang="en-US" sz="1300" dirty="0"/>
          </a:p>
        </p:txBody>
      </p:sp>
      <p:sp>
        <p:nvSpPr>
          <p:cNvPr id="15" name="Shape 9"/>
          <p:cNvSpPr/>
          <p:nvPr/>
        </p:nvSpPr>
        <p:spPr>
          <a:xfrm>
            <a:off x="594360" y="4553712"/>
            <a:ext cx="10881360" cy="0"/>
          </a:xfrm>
          <a:prstGeom prst="line">
            <a:avLst/>
          </a:prstGeom>
          <a:noFill/>
          <a:ln w="12700">
            <a:solidFill>
              <a:srgbClr val="E7DFF6"/>
            </a:solidFill>
            <a:prstDash val="solid"/>
          </a:ln>
        </p:spPr>
      </p:sp>
      <p:pic>
        <p:nvPicPr>
          <p:cNvPr id="16" name="Image 4" descr="icons/book_lavender.png"/>
          <p:cNvPicPr>
            <a:picLocks noChangeAspect="1"/>
          </p:cNvPicPr>
          <p:nvPr/>
        </p:nvPicPr>
        <p:blipFill>
          <a:blip r:embed="rId3"/>
          <a:stretch>
            <a:fillRect/>
          </a:stretch>
        </p:blipFill>
        <p:spPr>
          <a:xfrm>
            <a:off x="594360" y="4690872"/>
            <a:ext cx="274320" cy="274320"/>
          </a:xfrm>
          <a:prstGeom prst="rect">
            <a:avLst/>
          </a:prstGeom>
        </p:spPr>
      </p:pic>
      <p:sp>
        <p:nvSpPr>
          <p:cNvPr id="17" name="Text 10"/>
          <p:cNvSpPr/>
          <p:nvPr/>
        </p:nvSpPr>
        <p:spPr>
          <a:xfrm>
            <a:off x="1051560" y="4645152"/>
            <a:ext cx="10424160" cy="502920"/>
          </a:xfrm>
          <a:prstGeom prst="rect">
            <a:avLst/>
          </a:prstGeom>
          <a:noFill/>
          <a:ln/>
        </p:spPr>
        <p:txBody>
          <a:bodyPr wrap="square" lIns="0" tIns="0" rIns="0" bIns="0" rtlCol="0" anchor="ctr"/>
          <a:lstStyle/>
          <a:p>
            <a:pPr marL="0" indent="0">
              <a:buNone/>
            </a:pPr>
            <a:r>
              <a:rPr lang="en-US" sz="1300" dirty="0">
                <a:solidFill>
                  <a:srgbClr val="3A2C55"/>
                </a:solidFill>
                <a:latin typeface="Calibri" pitchFamily="34" charset="0"/>
                <a:ea typeface="Calibri" pitchFamily="34" charset="-122"/>
                <a:cs typeface="Calibri" pitchFamily="34" charset="-120"/>
              </a:rPr>
              <a:t>Ross J. Anderson, "Security Engineering", Wiley Publications.</a:t>
            </a:r>
            <a:endParaRPr lang="en-US" sz="1300" dirty="0"/>
          </a:p>
        </p:txBody>
      </p:sp>
      <p:sp>
        <p:nvSpPr>
          <p:cNvPr id="18" name="Shape 11"/>
          <p:cNvSpPr/>
          <p:nvPr/>
        </p:nvSpPr>
        <p:spPr>
          <a:xfrm>
            <a:off x="594360" y="5212080"/>
            <a:ext cx="10881360" cy="0"/>
          </a:xfrm>
          <a:prstGeom prst="line">
            <a:avLst/>
          </a:prstGeom>
          <a:noFill/>
          <a:ln w="12700">
            <a:solidFill>
              <a:srgbClr val="E7DFF6"/>
            </a:solidFill>
            <a:prstDash val="solid"/>
          </a:ln>
        </p:spPr>
      </p:sp>
      <p:pic>
        <p:nvPicPr>
          <p:cNvPr id="19" name="Image 5" descr="icons/book_lavender.png"/>
          <p:cNvPicPr>
            <a:picLocks noChangeAspect="1"/>
          </p:cNvPicPr>
          <p:nvPr/>
        </p:nvPicPr>
        <p:blipFill>
          <a:blip r:embed="rId3"/>
          <a:stretch>
            <a:fillRect/>
          </a:stretch>
        </p:blipFill>
        <p:spPr>
          <a:xfrm>
            <a:off x="594360" y="5349240"/>
            <a:ext cx="274320" cy="274320"/>
          </a:xfrm>
          <a:prstGeom prst="rect">
            <a:avLst/>
          </a:prstGeom>
        </p:spPr>
      </p:pic>
      <p:sp>
        <p:nvSpPr>
          <p:cNvPr id="20" name="Text 12"/>
          <p:cNvSpPr/>
          <p:nvPr/>
        </p:nvSpPr>
        <p:spPr>
          <a:xfrm>
            <a:off x="1051560" y="5303520"/>
            <a:ext cx="10424160" cy="502920"/>
          </a:xfrm>
          <a:prstGeom prst="rect">
            <a:avLst/>
          </a:prstGeom>
          <a:noFill/>
          <a:ln/>
        </p:spPr>
        <p:txBody>
          <a:bodyPr wrap="square" lIns="0" tIns="0" rIns="0" bIns="0" rtlCol="0" anchor="ctr"/>
          <a:lstStyle/>
          <a:p>
            <a:pPr marL="0" indent="0">
              <a:buNone/>
            </a:pPr>
            <a:r>
              <a:rPr lang="en-US" sz="1300" dirty="0">
                <a:solidFill>
                  <a:srgbClr val="3A2C55"/>
                </a:solidFill>
                <a:latin typeface="Calibri" pitchFamily="34" charset="0"/>
                <a:ea typeface="Calibri" pitchFamily="34" charset="-122"/>
                <a:cs typeface="Calibri" pitchFamily="34" charset="-120"/>
              </a:rPr>
              <a:t>Google Safe Browsing, "How Safe Browsing Works", safebrowsing.google.com.</a:t>
            </a:r>
            <a:endParaRPr lang="en-US" sz="1300" dirty="0"/>
          </a:p>
        </p:txBody>
      </p:sp>
      <p:sp>
        <p:nvSpPr>
          <p:cNvPr id="21" name="Shape 13"/>
          <p:cNvSpPr/>
          <p:nvPr/>
        </p:nvSpPr>
        <p:spPr>
          <a:xfrm>
            <a:off x="594360" y="5870448"/>
            <a:ext cx="10881360" cy="0"/>
          </a:xfrm>
          <a:prstGeom prst="line">
            <a:avLst/>
          </a:prstGeom>
          <a:noFill/>
          <a:ln w="12700">
            <a:solidFill>
              <a:srgbClr val="E7DFF6"/>
            </a:solidFill>
            <a:prstDash val="solid"/>
          </a:ln>
        </p:spPr>
      </p:sp>
      <p:sp>
        <p:nvSpPr>
          <p:cNvPr id="22" name="Text 14"/>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6B5B95"/>
                </a:solidFill>
                <a:latin typeface="Calibri" pitchFamily="34" charset="0"/>
                <a:ea typeface="Calibri" pitchFamily="34" charset="-122"/>
                <a:cs typeface="Calibri" pitchFamily="34" charset="-120"/>
              </a:rPr>
              <a:t>AI-Powered Scam Website Detection System</a:t>
            </a:r>
            <a:endParaRPr lang="en-US" sz="1000" dirty="0"/>
          </a:p>
        </p:txBody>
      </p:sp>
      <p:sp>
        <p:nvSpPr>
          <p:cNvPr id="23" name="Text 1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5B9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4B2E83"/>
        </a:solidFill>
        <a:effectLst/>
      </p:bgPr>
    </p:bg>
    <p:spTree>
      <p:nvGrpSpPr>
        <p:cNvPr id="1" name=""/>
        <p:cNvGrpSpPr/>
        <p:nvPr/>
      </p:nvGrpSpPr>
      <p:grpSpPr>
        <a:xfrm>
          <a:off x="0" y="0"/>
          <a:ext cx="0" cy="0"/>
          <a:chOff x="0" y="0"/>
          <a:chExt cx="0" cy="0"/>
        </a:xfrm>
      </p:grpSpPr>
      <p:sp>
        <p:nvSpPr>
          <p:cNvPr id="2" name="Shape 0"/>
          <p:cNvSpPr/>
          <p:nvPr/>
        </p:nvSpPr>
        <p:spPr>
          <a:xfrm>
            <a:off x="0" y="-12700"/>
            <a:ext cx="12188952" cy="6858000"/>
          </a:xfrm>
          <a:prstGeom prst="rect">
            <a:avLst/>
          </a:prstGeom>
          <a:solidFill>
            <a:srgbClr val="4B2E83"/>
          </a:solidFill>
          <a:ln/>
        </p:spPr>
      </p:sp>
      <p:sp>
        <p:nvSpPr>
          <p:cNvPr id="5" name="Text 2"/>
          <p:cNvSpPr/>
          <p:nvPr/>
        </p:nvSpPr>
        <p:spPr>
          <a:xfrm>
            <a:off x="822960" y="2913380"/>
            <a:ext cx="10543032" cy="82296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6" name="Text 3"/>
          <p:cNvSpPr/>
          <p:nvPr/>
        </p:nvSpPr>
        <p:spPr>
          <a:xfrm>
            <a:off x="2804160" y="3596640"/>
            <a:ext cx="10543032" cy="365760"/>
          </a:xfrm>
          <a:prstGeom prst="rect">
            <a:avLst/>
          </a:prstGeom>
          <a:noFill/>
          <a:ln/>
        </p:spPr>
        <p:txBody>
          <a:bodyPr wrap="square" rtlCol="0" anchor="ctr"/>
          <a:lstStyle/>
          <a:p>
            <a:pPr marL="0" indent="0" algn="ctr">
              <a:buNone/>
            </a:pPr>
            <a:r>
              <a:rPr lang="en-US" sz="1600" i="1" dirty="0">
                <a:solidFill>
                  <a:schemeClr val="bg2"/>
                </a:solidFill>
                <a:latin typeface="Times New Roman" panose="02020603050405020304" pitchFamily="18" charset="0"/>
                <a:cs typeface="Times New Roman" panose="02020603050405020304" pitchFamily="18" charset="0"/>
              </a:rPr>
              <a:t>By </a:t>
            </a:r>
            <a:r>
              <a:rPr lang="en-US" sz="1600" i="1" dirty="0" err="1">
                <a:solidFill>
                  <a:schemeClr val="bg2"/>
                </a:solidFill>
                <a:latin typeface="Times New Roman" panose="02020603050405020304" pitchFamily="18" charset="0"/>
                <a:cs typeface="Times New Roman" panose="02020603050405020304" pitchFamily="18" charset="0"/>
              </a:rPr>
              <a:t>T.Praveen</a:t>
            </a:r>
            <a:r>
              <a:rPr lang="en-US" sz="1600" i="1" dirty="0">
                <a:solidFill>
                  <a:schemeClr val="bg2"/>
                </a:solidFill>
                <a:latin typeface="Times New Roman" panose="02020603050405020304" pitchFamily="18" charset="0"/>
                <a:cs typeface="Times New Roman" panose="02020603050405020304" pitchFamily="18" charset="0"/>
              </a:rPr>
              <a:t> &amp; </a:t>
            </a:r>
            <a:r>
              <a:rPr lang="en-US" sz="1600" i="1" dirty="0" err="1">
                <a:solidFill>
                  <a:schemeClr val="bg2"/>
                </a:solidFill>
                <a:latin typeface="Times New Roman" panose="02020603050405020304" pitchFamily="18" charset="0"/>
                <a:cs typeface="Times New Roman" panose="02020603050405020304" pitchFamily="18" charset="0"/>
              </a:rPr>
              <a:t>A.Rithic</a:t>
            </a:r>
            <a:r>
              <a:rPr lang="en-US" sz="1600" i="1" dirty="0">
                <a:solidFill>
                  <a:schemeClr val="bg2"/>
                </a:solidFill>
                <a:latin typeface="Times New Roman" panose="02020603050405020304" pitchFamily="18" charset="0"/>
                <a:cs typeface="Times New Roman" panose="02020603050405020304" pitchFamily="18" charset="0"/>
              </a:rPr>
              <a:t> Joseph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1554</Words>
  <Application>Microsoft Office PowerPoint</Application>
  <PresentationFormat>Widescreen</PresentationFormat>
  <Paragraphs>239</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rithic joseph</cp:lastModifiedBy>
  <cp:revision>2</cp:revision>
  <dcterms:created xsi:type="dcterms:W3CDTF">2026-08-05T04:37:22Z</dcterms:created>
  <dcterms:modified xsi:type="dcterms:W3CDTF">2026-08-05T05:11:07Z</dcterms:modified>
</cp:coreProperties>
</file>